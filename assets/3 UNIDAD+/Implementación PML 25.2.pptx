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82" r:id="rId2"/>
    <p:sldId id="283" r:id="rId3"/>
    <p:sldId id="257" r:id="rId4"/>
    <p:sldId id="258" r:id="rId5"/>
    <p:sldId id="259" r:id="rId6"/>
    <p:sldId id="279" r:id="rId7"/>
    <p:sldId id="260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80" r:id="rId17"/>
    <p:sldId id="284" r:id="rId18"/>
    <p:sldId id="281" r:id="rId19"/>
    <p:sldId id="271" r:id="rId20"/>
    <p:sldId id="272" r:id="rId21"/>
    <p:sldId id="273" r:id="rId22"/>
    <p:sldId id="274" r:id="rId23"/>
    <p:sldId id="275" r:id="rId24"/>
    <p:sldId id="285" r:id="rId25"/>
    <p:sldId id="276" r:id="rId26"/>
    <p:sldId id="277" r:id="rId2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51"/>
  </p:normalViewPr>
  <p:slideViewPr>
    <p:cSldViewPr snapToGrid="0">
      <p:cViewPr varScale="1">
        <p:scale>
          <a:sx n="110" d="100"/>
          <a:sy n="110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387664-243F-0F42-91EF-C499D02693E3}" type="doc">
      <dgm:prSet loTypeId="urn:microsoft.com/office/officeart/2005/8/layout/list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0628024C-29C0-0741-B3FA-0FFA40ABA3D7}">
      <dgm:prSet phldrT="[Texto]" custT="1"/>
      <dgm:spPr/>
      <dgm:t>
        <a:bodyPr/>
        <a:lstStyle/>
        <a:p>
          <a:r>
            <a:rPr lang="es-AR" sz="1400" dirty="0"/>
            <a:t>1ra. Etapa: Planeamiento y organización. </a:t>
          </a:r>
          <a:endParaRPr lang="es-MX" sz="1400" dirty="0"/>
        </a:p>
      </dgm:t>
    </dgm:pt>
    <dgm:pt modelId="{FCF7D20C-BC64-7F42-9450-D4F38D4D531E}" type="parTrans" cxnId="{6E7BDE4F-81CE-5543-B386-FAD99E3F9017}">
      <dgm:prSet/>
      <dgm:spPr/>
      <dgm:t>
        <a:bodyPr/>
        <a:lstStyle/>
        <a:p>
          <a:endParaRPr lang="es-MX"/>
        </a:p>
      </dgm:t>
    </dgm:pt>
    <dgm:pt modelId="{2372515A-91D7-8847-8E5D-2DA75551ADBF}" type="sibTrans" cxnId="{6E7BDE4F-81CE-5543-B386-FAD99E3F9017}">
      <dgm:prSet/>
      <dgm:spPr/>
      <dgm:t>
        <a:bodyPr/>
        <a:lstStyle/>
        <a:p>
          <a:endParaRPr lang="es-MX"/>
        </a:p>
      </dgm:t>
    </dgm:pt>
    <dgm:pt modelId="{764D67E3-687F-6D41-A6A9-2969D4C5069E}">
      <dgm:prSet phldrT="[Texto]" custT="1"/>
      <dgm:spPr/>
      <dgm:t>
        <a:bodyPr/>
        <a:lstStyle/>
        <a:p>
          <a:r>
            <a:rPr lang="es-AR" sz="1400" dirty="0"/>
            <a:t>2da. Etapa: Diagnóstico de Producción Más Limpia. </a:t>
          </a:r>
          <a:endParaRPr lang="es-MX" sz="1400" dirty="0"/>
        </a:p>
      </dgm:t>
    </dgm:pt>
    <dgm:pt modelId="{FC6A4BEB-BB7E-6043-9546-5621B5BF5B34}" type="parTrans" cxnId="{EB37B287-D243-0445-A455-98AB69989818}">
      <dgm:prSet/>
      <dgm:spPr/>
      <dgm:t>
        <a:bodyPr/>
        <a:lstStyle/>
        <a:p>
          <a:endParaRPr lang="es-MX"/>
        </a:p>
      </dgm:t>
    </dgm:pt>
    <dgm:pt modelId="{9E9B4FBB-76F8-AC43-B72C-325504E21140}" type="sibTrans" cxnId="{EB37B287-D243-0445-A455-98AB69989818}">
      <dgm:prSet/>
      <dgm:spPr/>
      <dgm:t>
        <a:bodyPr/>
        <a:lstStyle/>
        <a:p>
          <a:endParaRPr lang="es-MX"/>
        </a:p>
      </dgm:t>
    </dgm:pt>
    <dgm:pt modelId="{AA844B57-FF6D-D341-AEF1-2A5B9382466B}">
      <dgm:prSet phldrT="[Texto]" custT="1"/>
      <dgm:spPr/>
      <dgm:t>
        <a:bodyPr/>
        <a:lstStyle/>
        <a:p>
          <a:r>
            <a:rPr lang="es-AR" sz="1400" dirty="0"/>
            <a:t>3ra. Etapa: Estudio de Factibilidad. </a:t>
          </a:r>
          <a:endParaRPr lang="es-MX" sz="1400" dirty="0"/>
        </a:p>
      </dgm:t>
    </dgm:pt>
    <dgm:pt modelId="{BD460074-A8CF-8244-80D2-0ED166B1B4F6}" type="parTrans" cxnId="{96108E19-2552-6046-8B4B-E2AA00C4D8E3}">
      <dgm:prSet/>
      <dgm:spPr/>
      <dgm:t>
        <a:bodyPr/>
        <a:lstStyle/>
        <a:p>
          <a:endParaRPr lang="es-MX"/>
        </a:p>
      </dgm:t>
    </dgm:pt>
    <dgm:pt modelId="{D6991DD8-1385-014F-BAD2-81CBE35F7245}" type="sibTrans" cxnId="{96108E19-2552-6046-8B4B-E2AA00C4D8E3}">
      <dgm:prSet/>
      <dgm:spPr/>
      <dgm:t>
        <a:bodyPr/>
        <a:lstStyle/>
        <a:p>
          <a:endParaRPr lang="es-MX"/>
        </a:p>
      </dgm:t>
    </dgm:pt>
    <dgm:pt modelId="{B7FD7BC1-F00E-9E40-BA6F-028B2646E426}">
      <dgm:prSet custT="1"/>
      <dgm:spPr/>
      <dgm:t>
        <a:bodyPr/>
        <a:lstStyle/>
        <a:p>
          <a:r>
            <a:rPr lang="es-AR" sz="1400" dirty="0"/>
            <a:t>4ta. Etapa: Implementación y seguimiento de las oportunidades de Producción Más Limpia.</a:t>
          </a:r>
        </a:p>
      </dgm:t>
    </dgm:pt>
    <dgm:pt modelId="{B64A2465-7A51-844A-83D9-F9B40E571AAE}" type="parTrans" cxnId="{0A9E215B-EA50-DC42-A30A-5D0F0773BAD2}">
      <dgm:prSet/>
      <dgm:spPr/>
      <dgm:t>
        <a:bodyPr/>
        <a:lstStyle/>
        <a:p>
          <a:endParaRPr lang="es-MX"/>
        </a:p>
      </dgm:t>
    </dgm:pt>
    <dgm:pt modelId="{E0466DEF-8576-F44A-BF32-33025D7B0BC7}" type="sibTrans" cxnId="{0A9E215B-EA50-DC42-A30A-5D0F0773BAD2}">
      <dgm:prSet/>
      <dgm:spPr/>
      <dgm:t>
        <a:bodyPr/>
        <a:lstStyle/>
        <a:p>
          <a:endParaRPr lang="es-MX"/>
        </a:p>
      </dgm:t>
    </dgm:pt>
    <dgm:pt modelId="{2C109742-8DA6-B048-9103-18D9C4EC760A}">
      <dgm:prSet custT="1"/>
      <dgm:spPr/>
      <dgm:t>
        <a:bodyPr/>
        <a:lstStyle/>
        <a:p>
          <a:r>
            <a:rPr lang="es-AR" sz="1400" dirty="0"/>
            <a:t>5ta. Etapa: Mejora Continua. </a:t>
          </a:r>
        </a:p>
      </dgm:t>
    </dgm:pt>
    <dgm:pt modelId="{F0C8E287-7D78-D44C-947A-BACE31E068EC}" type="parTrans" cxnId="{0C85E1B0-1EE2-2041-8857-5B6E0395BD07}">
      <dgm:prSet/>
      <dgm:spPr/>
      <dgm:t>
        <a:bodyPr/>
        <a:lstStyle/>
        <a:p>
          <a:endParaRPr lang="es-MX"/>
        </a:p>
      </dgm:t>
    </dgm:pt>
    <dgm:pt modelId="{6F6D6EFD-240A-0B4C-B991-1E90593A383F}" type="sibTrans" cxnId="{0C85E1B0-1EE2-2041-8857-5B6E0395BD07}">
      <dgm:prSet/>
      <dgm:spPr/>
      <dgm:t>
        <a:bodyPr/>
        <a:lstStyle/>
        <a:p>
          <a:endParaRPr lang="es-MX"/>
        </a:p>
      </dgm:t>
    </dgm:pt>
    <dgm:pt modelId="{96FC2F24-4FF8-B648-BA41-1085E05B82AD}" type="pres">
      <dgm:prSet presAssocID="{C6387664-243F-0F42-91EF-C499D02693E3}" presName="linear" presStyleCnt="0">
        <dgm:presLayoutVars>
          <dgm:dir/>
          <dgm:animLvl val="lvl"/>
          <dgm:resizeHandles val="exact"/>
        </dgm:presLayoutVars>
      </dgm:prSet>
      <dgm:spPr/>
    </dgm:pt>
    <dgm:pt modelId="{E6AD6DCF-B445-794C-A31E-D7E83CC542DE}" type="pres">
      <dgm:prSet presAssocID="{0628024C-29C0-0741-B3FA-0FFA40ABA3D7}" presName="parentLin" presStyleCnt="0"/>
      <dgm:spPr/>
    </dgm:pt>
    <dgm:pt modelId="{26F58BA8-88CA-6B4A-9337-2F6ADF43F0B9}" type="pres">
      <dgm:prSet presAssocID="{0628024C-29C0-0741-B3FA-0FFA40ABA3D7}" presName="parentLeftMargin" presStyleLbl="node1" presStyleIdx="0" presStyleCnt="5"/>
      <dgm:spPr/>
    </dgm:pt>
    <dgm:pt modelId="{63C40F45-518F-234B-93D6-F3C9D67CC040}" type="pres">
      <dgm:prSet presAssocID="{0628024C-29C0-0741-B3FA-0FFA40ABA3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063B9D-938C-474C-B221-DE0243AABC22}" type="pres">
      <dgm:prSet presAssocID="{0628024C-29C0-0741-B3FA-0FFA40ABA3D7}" presName="negativeSpace" presStyleCnt="0"/>
      <dgm:spPr/>
    </dgm:pt>
    <dgm:pt modelId="{A515FA24-ED8A-5842-AECE-AE33D547E963}" type="pres">
      <dgm:prSet presAssocID="{0628024C-29C0-0741-B3FA-0FFA40ABA3D7}" presName="childText" presStyleLbl="conFgAcc1" presStyleIdx="0" presStyleCnt="5">
        <dgm:presLayoutVars>
          <dgm:bulletEnabled val="1"/>
        </dgm:presLayoutVars>
      </dgm:prSet>
      <dgm:spPr/>
    </dgm:pt>
    <dgm:pt modelId="{904C4790-B797-1542-A44A-36BC7C96CD8E}" type="pres">
      <dgm:prSet presAssocID="{2372515A-91D7-8847-8E5D-2DA75551ADBF}" presName="spaceBetweenRectangles" presStyleCnt="0"/>
      <dgm:spPr/>
    </dgm:pt>
    <dgm:pt modelId="{F8C810A1-22E2-4443-919A-CA1E955BD9C1}" type="pres">
      <dgm:prSet presAssocID="{764D67E3-687F-6D41-A6A9-2969D4C5069E}" presName="parentLin" presStyleCnt="0"/>
      <dgm:spPr/>
    </dgm:pt>
    <dgm:pt modelId="{FE4893F2-08CD-3C42-97B0-249857DF44CD}" type="pres">
      <dgm:prSet presAssocID="{764D67E3-687F-6D41-A6A9-2969D4C5069E}" presName="parentLeftMargin" presStyleLbl="node1" presStyleIdx="0" presStyleCnt="5"/>
      <dgm:spPr/>
    </dgm:pt>
    <dgm:pt modelId="{6DE6D1FA-B2CC-B640-B258-CE895BE5A585}" type="pres">
      <dgm:prSet presAssocID="{764D67E3-687F-6D41-A6A9-2969D4C5069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5E1E9AF-3857-1B43-A86E-4038FA4B2766}" type="pres">
      <dgm:prSet presAssocID="{764D67E3-687F-6D41-A6A9-2969D4C5069E}" presName="negativeSpace" presStyleCnt="0"/>
      <dgm:spPr/>
    </dgm:pt>
    <dgm:pt modelId="{D623C0B0-5047-F24D-B94E-9CB90A661C88}" type="pres">
      <dgm:prSet presAssocID="{764D67E3-687F-6D41-A6A9-2969D4C5069E}" presName="childText" presStyleLbl="conFgAcc1" presStyleIdx="1" presStyleCnt="5">
        <dgm:presLayoutVars>
          <dgm:bulletEnabled val="1"/>
        </dgm:presLayoutVars>
      </dgm:prSet>
      <dgm:spPr/>
    </dgm:pt>
    <dgm:pt modelId="{4A4C570F-8FF5-234F-BF90-D553D48C093E}" type="pres">
      <dgm:prSet presAssocID="{9E9B4FBB-76F8-AC43-B72C-325504E21140}" presName="spaceBetweenRectangles" presStyleCnt="0"/>
      <dgm:spPr/>
    </dgm:pt>
    <dgm:pt modelId="{17414A7B-EF29-2849-83E4-898CE37E6B65}" type="pres">
      <dgm:prSet presAssocID="{AA844B57-FF6D-D341-AEF1-2A5B9382466B}" presName="parentLin" presStyleCnt="0"/>
      <dgm:spPr/>
    </dgm:pt>
    <dgm:pt modelId="{3FB210CB-622D-B64C-BD77-DB161EA650A8}" type="pres">
      <dgm:prSet presAssocID="{AA844B57-FF6D-D341-AEF1-2A5B9382466B}" presName="parentLeftMargin" presStyleLbl="node1" presStyleIdx="1" presStyleCnt="5"/>
      <dgm:spPr/>
    </dgm:pt>
    <dgm:pt modelId="{A9FA820F-C100-484E-9E57-B6793913F77B}" type="pres">
      <dgm:prSet presAssocID="{AA844B57-FF6D-D341-AEF1-2A5B938246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152032-929A-684B-8D32-35495E1F0BDB}" type="pres">
      <dgm:prSet presAssocID="{AA844B57-FF6D-D341-AEF1-2A5B9382466B}" presName="negativeSpace" presStyleCnt="0"/>
      <dgm:spPr/>
    </dgm:pt>
    <dgm:pt modelId="{8C3D8815-240A-CD4B-B49C-87CBE91343CD}" type="pres">
      <dgm:prSet presAssocID="{AA844B57-FF6D-D341-AEF1-2A5B9382466B}" presName="childText" presStyleLbl="conFgAcc1" presStyleIdx="2" presStyleCnt="5">
        <dgm:presLayoutVars>
          <dgm:bulletEnabled val="1"/>
        </dgm:presLayoutVars>
      </dgm:prSet>
      <dgm:spPr/>
    </dgm:pt>
    <dgm:pt modelId="{0794C170-91A3-9D4A-A05D-631FFF07204B}" type="pres">
      <dgm:prSet presAssocID="{D6991DD8-1385-014F-BAD2-81CBE35F7245}" presName="spaceBetweenRectangles" presStyleCnt="0"/>
      <dgm:spPr/>
    </dgm:pt>
    <dgm:pt modelId="{1D80068C-7B2E-6844-8124-77EBDCC9511A}" type="pres">
      <dgm:prSet presAssocID="{B7FD7BC1-F00E-9E40-BA6F-028B2646E426}" presName="parentLin" presStyleCnt="0"/>
      <dgm:spPr/>
    </dgm:pt>
    <dgm:pt modelId="{10721B58-8446-6342-9FD0-407DB48CEDB7}" type="pres">
      <dgm:prSet presAssocID="{B7FD7BC1-F00E-9E40-BA6F-028B2646E426}" presName="parentLeftMargin" presStyleLbl="node1" presStyleIdx="2" presStyleCnt="5"/>
      <dgm:spPr/>
    </dgm:pt>
    <dgm:pt modelId="{0741C8A9-EF1B-1A41-88A1-3C8E8DE06FDB}" type="pres">
      <dgm:prSet presAssocID="{B7FD7BC1-F00E-9E40-BA6F-028B2646E42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3BB93A-2E58-C047-A868-16ABB09D2320}" type="pres">
      <dgm:prSet presAssocID="{B7FD7BC1-F00E-9E40-BA6F-028B2646E426}" presName="negativeSpace" presStyleCnt="0"/>
      <dgm:spPr/>
    </dgm:pt>
    <dgm:pt modelId="{F2F75337-7611-8F42-964F-0EFFB772B1A7}" type="pres">
      <dgm:prSet presAssocID="{B7FD7BC1-F00E-9E40-BA6F-028B2646E426}" presName="childText" presStyleLbl="conFgAcc1" presStyleIdx="3" presStyleCnt="5">
        <dgm:presLayoutVars>
          <dgm:bulletEnabled val="1"/>
        </dgm:presLayoutVars>
      </dgm:prSet>
      <dgm:spPr/>
    </dgm:pt>
    <dgm:pt modelId="{E61170A1-75D2-CD40-B900-44E3DE5CFDF4}" type="pres">
      <dgm:prSet presAssocID="{E0466DEF-8576-F44A-BF32-33025D7B0BC7}" presName="spaceBetweenRectangles" presStyleCnt="0"/>
      <dgm:spPr/>
    </dgm:pt>
    <dgm:pt modelId="{C019990E-3D15-CE4D-AD47-BFEAE7F5D5FD}" type="pres">
      <dgm:prSet presAssocID="{2C109742-8DA6-B048-9103-18D9C4EC760A}" presName="parentLin" presStyleCnt="0"/>
      <dgm:spPr/>
    </dgm:pt>
    <dgm:pt modelId="{5296AE15-9FA6-CA43-B7F8-9AE3488F83B6}" type="pres">
      <dgm:prSet presAssocID="{2C109742-8DA6-B048-9103-18D9C4EC760A}" presName="parentLeftMargin" presStyleLbl="node1" presStyleIdx="3" presStyleCnt="5"/>
      <dgm:spPr/>
    </dgm:pt>
    <dgm:pt modelId="{5A308BAF-4CC0-B040-8A4E-AA0B91AEA01F}" type="pres">
      <dgm:prSet presAssocID="{2C109742-8DA6-B048-9103-18D9C4EC760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224D32B-E7C8-2346-B388-24BBE20B2351}" type="pres">
      <dgm:prSet presAssocID="{2C109742-8DA6-B048-9103-18D9C4EC760A}" presName="negativeSpace" presStyleCnt="0"/>
      <dgm:spPr/>
    </dgm:pt>
    <dgm:pt modelId="{2B5C58BC-7B56-CB40-95CD-DC0458B23902}" type="pres">
      <dgm:prSet presAssocID="{2C109742-8DA6-B048-9103-18D9C4EC760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0B5EF01-B995-C643-9DE2-9B30B9900AF8}" type="presOf" srcId="{2C109742-8DA6-B048-9103-18D9C4EC760A}" destId="{5296AE15-9FA6-CA43-B7F8-9AE3488F83B6}" srcOrd="0" destOrd="0" presId="urn:microsoft.com/office/officeart/2005/8/layout/list1"/>
    <dgm:cxn modelId="{025FF001-0970-2347-A8D1-199582FDE5B3}" type="presOf" srcId="{764D67E3-687F-6D41-A6A9-2969D4C5069E}" destId="{6DE6D1FA-B2CC-B640-B258-CE895BE5A585}" srcOrd="1" destOrd="0" presId="urn:microsoft.com/office/officeart/2005/8/layout/list1"/>
    <dgm:cxn modelId="{54BBCE14-D684-194E-9A75-B3D101AD1177}" type="presOf" srcId="{B7FD7BC1-F00E-9E40-BA6F-028B2646E426}" destId="{0741C8A9-EF1B-1A41-88A1-3C8E8DE06FDB}" srcOrd="1" destOrd="0" presId="urn:microsoft.com/office/officeart/2005/8/layout/list1"/>
    <dgm:cxn modelId="{96108E19-2552-6046-8B4B-E2AA00C4D8E3}" srcId="{C6387664-243F-0F42-91EF-C499D02693E3}" destId="{AA844B57-FF6D-D341-AEF1-2A5B9382466B}" srcOrd="2" destOrd="0" parTransId="{BD460074-A8CF-8244-80D2-0ED166B1B4F6}" sibTransId="{D6991DD8-1385-014F-BAD2-81CBE35F7245}"/>
    <dgm:cxn modelId="{0956F91D-6739-CB48-8F54-29E0C719A839}" type="presOf" srcId="{764D67E3-687F-6D41-A6A9-2969D4C5069E}" destId="{FE4893F2-08CD-3C42-97B0-249857DF44CD}" srcOrd="0" destOrd="0" presId="urn:microsoft.com/office/officeart/2005/8/layout/list1"/>
    <dgm:cxn modelId="{33ECA335-C834-EC46-897D-0387D4F3F4C6}" type="presOf" srcId="{AA844B57-FF6D-D341-AEF1-2A5B9382466B}" destId="{A9FA820F-C100-484E-9E57-B6793913F77B}" srcOrd="1" destOrd="0" presId="urn:microsoft.com/office/officeart/2005/8/layout/list1"/>
    <dgm:cxn modelId="{16FA303B-8F62-1F4F-9744-2D473DED7E35}" type="presOf" srcId="{B7FD7BC1-F00E-9E40-BA6F-028B2646E426}" destId="{10721B58-8446-6342-9FD0-407DB48CEDB7}" srcOrd="0" destOrd="0" presId="urn:microsoft.com/office/officeart/2005/8/layout/list1"/>
    <dgm:cxn modelId="{6E7BDE4F-81CE-5543-B386-FAD99E3F9017}" srcId="{C6387664-243F-0F42-91EF-C499D02693E3}" destId="{0628024C-29C0-0741-B3FA-0FFA40ABA3D7}" srcOrd="0" destOrd="0" parTransId="{FCF7D20C-BC64-7F42-9450-D4F38D4D531E}" sibTransId="{2372515A-91D7-8847-8E5D-2DA75551ADBF}"/>
    <dgm:cxn modelId="{0A9E215B-EA50-DC42-A30A-5D0F0773BAD2}" srcId="{C6387664-243F-0F42-91EF-C499D02693E3}" destId="{B7FD7BC1-F00E-9E40-BA6F-028B2646E426}" srcOrd="3" destOrd="0" parTransId="{B64A2465-7A51-844A-83D9-F9B40E571AAE}" sibTransId="{E0466DEF-8576-F44A-BF32-33025D7B0BC7}"/>
    <dgm:cxn modelId="{846E8972-5375-954C-B7F6-A8E46EE4940F}" type="presOf" srcId="{0628024C-29C0-0741-B3FA-0FFA40ABA3D7}" destId="{26F58BA8-88CA-6B4A-9337-2F6ADF43F0B9}" srcOrd="0" destOrd="0" presId="urn:microsoft.com/office/officeart/2005/8/layout/list1"/>
    <dgm:cxn modelId="{A3DCFA86-6B63-2645-9282-3D07B8D5066E}" type="presOf" srcId="{C6387664-243F-0F42-91EF-C499D02693E3}" destId="{96FC2F24-4FF8-B648-BA41-1085E05B82AD}" srcOrd="0" destOrd="0" presId="urn:microsoft.com/office/officeart/2005/8/layout/list1"/>
    <dgm:cxn modelId="{EB37B287-D243-0445-A455-98AB69989818}" srcId="{C6387664-243F-0F42-91EF-C499D02693E3}" destId="{764D67E3-687F-6D41-A6A9-2969D4C5069E}" srcOrd="1" destOrd="0" parTransId="{FC6A4BEB-BB7E-6043-9546-5621B5BF5B34}" sibTransId="{9E9B4FBB-76F8-AC43-B72C-325504E21140}"/>
    <dgm:cxn modelId="{86FE218C-6F1C-F443-B4C8-95A3DD11DBAC}" type="presOf" srcId="{2C109742-8DA6-B048-9103-18D9C4EC760A}" destId="{5A308BAF-4CC0-B040-8A4E-AA0B91AEA01F}" srcOrd="1" destOrd="0" presId="urn:microsoft.com/office/officeart/2005/8/layout/list1"/>
    <dgm:cxn modelId="{4FD913A9-FD16-F843-8FD8-1C37E1C75625}" type="presOf" srcId="{0628024C-29C0-0741-B3FA-0FFA40ABA3D7}" destId="{63C40F45-518F-234B-93D6-F3C9D67CC040}" srcOrd="1" destOrd="0" presId="urn:microsoft.com/office/officeart/2005/8/layout/list1"/>
    <dgm:cxn modelId="{0C85E1B0-1EE2-2041-8857-5B6E0395BD07}" srcId="{C6387664-243F-0F42-91EF-C499D02693E3}" destId="{2C109742-8DA6-B048-9103-18D9C4EC760A}" srcOrd="4" destOrd="0" parTransId="{F0C8E287-7D78-D44C-947A-BACE31E068EC}" sibTransId="{6F6D6EFD-240A-0B4C-B991-1E90593A383F}"/>
    <dgm:cxn modelId="{2938F9FC-5667-5D4A-8150-12064AAF59E6}" type="presOf" srcId="{AA844B57-FF6D-D341-AEF1-2A5B9382466B}" destId="{3FB210CB-622D-B64C-BD77-DB161EA650A8}" srcOrd="0" destOrd="0" presId="urn:microsoft.com/office/officeart/2005/8/layout/list1"/>
    <dgm:cxn modelId="{EEAA29F8-E933-6C43-9DC7-1DDF19F9F59A}" type="presParOf" srcId="{96FC2F24-4FF8-B648-BA41-1085E05B82AD}" destId="{E6AD6DCF-B445-794C-A31E-D7E83CC542DE}" srcOrd="0" destOrd="0" presId="urn:microsoft.com/office/officeart/2005/8/layout/list1"/>
    <dgm:cxn modelId="{BFCDD4C5-9E74-DE4D-A80A-8F4FD2077596}" type="presParOf" srcId="{E6AD6DCF-B445-794C-A31E-D7E83CC542DE}" destId="{26F58BA8-88CA-6B4A-9337-2F6ADF43F0B9}" srcOrd="0" destOrd="0" presId="urn:microsoft.com/office/officeart/2005/8/layout/list1"/>
    <dgm:cxn modelId="{875B2DC2-D53E-6E4B-8BF7-E94AE19DB784}" type="presParOf" srcId="{E6AD6DCF-B445-794C-A31E-D7E83CC542DE}" destId="{63C40F45-518F-234B-93D6-F3C9D67CC040}" srcOrd="1" destOrd="0" presId="urn:microsoft.com/office/officeart/2005/8/layout/list1"/>
    <dgm:cxn modelId="{E6DFD4FD-5512-DA41-B704-EA6684DC8499}" type="presParOf" srcId="{96FC2F24-4FF8-B648-BA41-1085E05B82AD}" destId="{A4063B9D-938C-474C-B221-DE0243AABC22}" srcOrd="1" destOrd="0" presId="urn:microsoft.com/office/officeart/2005/8/layout/list1"/>
    <dgm:cxn modelId="{881D8338-E55D-E945-90C4-40CABA124B7A}" type="presParOf" srcId="{96FC2F24-4FF8-B648-BA41-1085E05B82AD}" destId="{A515FA24-ED8A-5842-AECE-AE33D547E963}" srcOrd="2" destOrd="0" presId="urn:microsoft.com/office/officeart/2005/8/layout/list1"/>
    <dgm:cxn modelId="{DFCB3184-8EF0-0644-A34E-F9BF530D9C31}" type="presParOf" srcId="{96FC2F24-4FF8-B648-BA41-1085E05B82AD}" destId="{904C4790-B797-1542-A44A-36BC7C96CD8E}" srcOrd="3" destOrd="0" presId="urn:microsoft.com/office/officeart/2005/8/layout/list1"/>
    <dgm:cxn modelId="{843D912B-746C-9A43-8837-0640DEB18FBD}" type="presParOf" srcId="{96FC2F24-4FF8-B648-BA41-1085E05B82AD}" destId="{F8C810A1-22E2-4443-919A-CA1E955BD9C1}" srcOrd="4" destOrd="0" presId="urn:microsoft.com/office/officeart/2005/8/layout/list1"/>
    <dgm:cxn modelId="{D0D359B4-57F4-894A-B37B-8135467F752A}" type="presParOf" srcId="{F8C810A1-22E2-4443-919A-CA1E955BD9C1}" destId="{FE4893F2-08CD-3C42-97B0-249857DF44CD}" srcOrd="0" destOrd="0" presId="urn:microsoft.com/office/officeart/2005/8/layout/list1"/>
    <dgm:cxn modelId="{7E3B604F-FFAF-2A44-B244-00FB34D46B0D}" type="presParOf" srcId="{F8C810A1-22E2-4443-919A-CA1E955BD9C1}" destId="{6DE6D1FA-B2CC-B640-B258-CE895BE5A585}" srcOrd="1" destOrd="0" presId="urn:microsoft.com/office/officeart/2005/8/layout/list1"/>
    <dgm:cxn modelId="{E468B7DE-5100-844E-AE1F-3DF8A8E5AF0F}" type="presParOf" srcId="{96FC2F24-4FF8-B648-BA41-1085E05B82AD}" destId="{85E1E9AF-3857-1B43-A86E-4038FA4B2766}" srcOrd="5" destOrd="0" presId="urn:microsoft.com/office/officeart/2005/8/layout/list1"/>
    <dgm:cxn modelId="{EE88A415-68F6-E348-9988-52E739B81409}" type="presParOf" srcId="{96FC2F24-4FF8-B648-BA41-1085E05B82AD}" destId="{D623C0B0-5047-F24D-B94E-9CB90A661C88}" srcOrd="6" destOrd="0" presId="urn:microsoft.com/office/officeart/2005/8/layout/list1"/>
    <dgm:cxn modelId="{AE3A3708-D4C6-2D42-98AB-5075D8E3C533}" type="presParOf" srcId="{96FC2F24-4FF8-B648-BA41-1085E05B82AD}" destId="{4A4C570F-8FF5-234F-BF90-D553D48C093E}" srcOrd="7" destOrd="0" presId="urn:microsoft.com/office/officeart/2005/8/layout/list1"/>
    <dgm:cxn modelId="{EAE6334F-8606-8C4F-ABAE-52D28410FCDB}" type="presParOf" srcId="{96FC2F24-4FF8-B648-BA41-1085E05B82AD}" destId="{17414A7B-EF29-2849-83E4-898CE37E6B65}" srcOrd="8" destOrd="0" presId="urn:microsoft.com/office/officeart/2005/8/layout/list1"/>
    <dgm:cxn modelId="{135BB528-F67C-9044-AD98-C8F581D2D143}" type="presParOf" srcId="{17414A7B-EF29-2849-83E4-898CE37E6B65}" destId="{3FB210CB-622D-B64C-BD77-DB161EA650A8}" srcOrd="0" destOrd="0" presId="urn:microsoft.com/office/officeart/2005/8/layout/list1"/>
    <dgm:cxn modelId="{37FA24BA-B749-3344-892B-E0E0483E947E}" type="presParOf" srcId="{17414A7B-EF29-2849-83E4-898CE37E6B65}" destId="{A9FA820F-C100-484E-9E57-B6793913F77B}" srcOrd="1" destOrd="0" presId="urn:microsoft.com/office/officeart/2005/8/layout/list1"/>
    <dgm:cxn modelId="{4643D519-6AEB-734A-B89F-6859C2343F68}" type="presParOf" srcId="{96FC2F24-4FF8-B648-BA41-1085E05B82AD}" destId="{6F152032-929A-684B-8D32-35495E1F0BDB}" srcOrd="9" destOrd="0" presId="urn:microsoft.com/office/officeart/2005/8/layout/list1"/>
    <dgm:cxn modelId="{DA1320A8-0E51-D546-AD8F-1C57963BD05F}" type="presParOf" srcId="{96FC2F24-4FF8-B648-BA41-1085E05B82AD}" destId="{8C3D8815-240A-CD4B-B49C-87CBE91343CD}" srcOrd="10" destOrd="0" presId="urn:microsoft.com/office/officeart/2005/8/layout/list1"/>
    <dgm:cxn modelId="{0B607F91-A123-6D44-92E5-C3EBD830851A}" type="presParOf" srcId="{96FC2F24-4FF8-B648-BA41-1085E05B82AD}" destId="{0794C170-91A3-9D4A-A05D-631FFF07204B}" srcOrd="11" destOrd="0" presId="urn:microsoft.com/office/officeart/2005/8/layout/list1"/>
    <dgm:cxn modelId="{23C3D5A8-ED5B-2048-9756-826E379443B3}" type="presParOf" srcId="{96FC2F24-4FF8-B648-BA41-1085E05B82AD}" destId="{1D80068C-7B2E-6844-8124-77EBDCC9511A}" srcOrd="12" destOrd="0" presId="urn:microsoft.com/office/officeart/2005/8/layout/list1"/>
    <dgm:cxn modelId="{988A60FA-F7E5-564F-8D16-C7BD22740C04}" type="presParOf" srcId="{1D80068C-7B2E-6844-8124-77EBDCC9511A}" destId="{10721B58-8446-6342-9FD0-407DB48CEDB7}" srcOrd="0" destOrd="0" presId="urn:microsoft.com/office/officeart/2005/8/layout/list1"/>
    <dgm:cxn modelId="{38A70FB4-CAF8-F24F-B13C-B58C88391925}" type="presParOf" srcId="{1D80068C-7B2E-6844-8124-77EBDCC9511A}" destId="{0741C8A9-EF1B-1A41-88A1-3C8E8DE06FDB}" srcOrd="1" destOrd="0" presId="urn:microsoft.com/office/officeart/2005/8/layout/list1"/>
    <dgm:cxn modelId="{B0E71983-96AF-2C47-80B5-28239D1586DE}" type="presParOf" srcId="{96FC2F24-4FF8-B648-BA41-1085E05B82AD}" destId="{513BB93A-2E58-C047-A868-16ABB09D2320}" srcOrd="13" destOrd="0" presId="urn:microsoft.com/office/officeart/2005/8/layout/list1"/>
    <dgm:cxn modelId="{56F1B889-B445-9344-8FE5-7562CAF685C8}" type="presParOf" srcId="{96FC2F24-4FF8-B648-BA41-1085E05B82AD}" destId="{F2F75337-7611-8F42-964F-0EFFB772B1A7}" srcOrd="14" destOrd="0" presId="urn:microsoft.com/office/officeart/2005/8/layout/list1"/>
    <dgm:cxn modelId="{4C4ED585-8AD3-6A4A-A9C5-7109FB66A714}" type="presParOf" srcId="{96FC2F24-4FF8-B648-BA41-1085E05B82AD}" destId="{E61170A1-75D2-CD40-B900-44E3DE5CFDF4}" srcOrd="15" destOrd="0" presId="urn:microsoft.com/office/officeart/2005/8/layout/list1"/>
    <dgm:cxn modelId="{E50BCEF1-5059-F141-882F-4E1095F2E1DE}" type="presParOf" srcId="{96FC2F24-4FF8-B648-BA41-1085E05B82AD}" destId="{C019990E-3D15-CE4D-AD47-BFEAE7F5D5FD}" srcOrd="16" destOrd="0" presId="urn:microsoft.com/office/officeart/2005/8/layout/list1"/>
    <dgm:cxn modelId="{D3CA1C93-624D-6E42-BB3E-F6EBDF49F53F}" type="presParOf" srcId="{C019990E-3D15-CE4D-AD47-BFEAE7F5D5FD}" destId="{5296AE15-9FA6-CA43-B7F8-9AE3488F83B6}" srcOrd="0" destOrd="0" presId="urn:microsoft.com/office/officeart/2005/8/layout/list1"/>
    <dgm:cxn modelId="{C4D11F89-E15D-174F-B4CB-EF82E11209A7}" type="presParOf" srcId="{C019990E-3D15-CE4D-AD47-BFEAE7F5D5FD}" destId="{5A308BAF-4CC0-B040-8A4E-AA0B91AEA01F}" srcOrd="1" destOrd="0" presId="urn:microsoft.com/office/officeart/2005/8/layout/list1"/>
    <dgm:cxn modelId="{BF436B12-C521-9840-A0C3-307FDCCE1F64}" type="presParOf" srcId="{96FC2F24-4FF8-B648-BA41-1085E05B82AD}" destId="{1224D32B-E7C8-2346-B388-24BBE20B2351}" srcOrd="17" destOrd="0" presId="urn:microsoft.com/office/officeart/2005/8/layout/list1"/>
    <dgm:cxn modelId="{5B154DBE-EF93-B446-8A8D-ED2A5F0382A1}" type="presParOf" srcId="{96FC2F24-4FF8-B648-BA41-1085E05B82AD}" destId="{2B5C58BC-7B56-CB40-95CD-DC0458B2390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F932C6-66D5-D54C-B5CC-E914260A5189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95A8947F-2ABB-2047-9EEB-991FFD0A0D43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AR" b="1" dirty="0">
              <a:solidFill>
                <a:schemeClr val="accent1">
                  <a:lumMod val="50000"/>
                </a:schemeClr>
              </a:solidFill>
            </a:rPr>
            <a:t>Eliminación/Reducción en la Fuente:</a:t>
          </a:r>
          <a:r>
            <a:rPr lang="es-AR" dirty="0">
              <a:solidFill>
                <a:schemeClr val="accent1">
                  <a:lumMod val="50000"/>
                </a:schemeClr>
              </a:solidFill>
            </a:rPr>
            <a:t> (Prevención) – Máxima prioridad.</a:t>
          </a:r>
          <a:endParaRPr lang="es-MX" dirty="0"/>
        </a:p>
      </dgm:t>
    </dgm:pt>
    <dgm:pt modelId="{9153D080-9344-2C4A-B042-B00A26B70CF1}" type="parTrans" cxnId="{4659B5D0-E280-4445-8E95-F27766B1CDA9}">
      <dgm:prSet/>
      <dgm:spPr/>
      <dgm:t>
        <a:bodyPr/>
        <a:lstStyle/>
        <a:p>
          <a:endParaRPr lang="es-MX"/>
        </a:p>
      </dgm:t>
    </dgm:pt>
    <dgm:pt modelId="{93B49B66-4AF3-3443-81BF-ABE11BF0A1F4}" type="sibTrans" cxnId="{4659B5D0-E280-4445-8E95-F27766B1CDA9}">
      <dgm:prSet/>
      <dgm:spPr/>
      <dgm:t>
        <a:bodyPr/>
        <a:lstStyle/>
        <a:p>
          <a:endParaRPr lang="es-MX"/>
        </a:p>
      </dgm:t>
    </dgm:pt>
    <dgm:pt modelId="{0620A89D-3373-494B-85BD-F6E7C4C601E6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AR" b="1" dirty="0">
              <a:solidFill>
                <a:schemeClr val="accent1">
                  <a:lumMod val="50000"/>
                </a:schemeClr>
              </a:solidFill>
            </a:rPr>
            <a:t>Reutilización y Reciclaje:</a:t>
          </a:r>
          <a:r>
            <a:rPr lang="es-AR" dirty="0">
              <a:solidFill>
                <a:schemeClr val="accent1">
                  <a:lumMod val="50000"/>
                </a:schemeClr>
              </a:solidFill>
            </a:rPr>
            <a:t> (Dentro o fuera de la empresa).</a:t>
          </a:r>
          <a:endParaRPr lang="es-MX" dirty="0"/>
        </a:p>
      </dgm:t>
    </dgm:pt>
    <dgm:pt modelId="{FA9450C7-1C86-224B-8F95-A1041189502E}" type="parTrans" cxnId="{DA750D3F-BCFB-CB48-A9E9-2E4453AC95E1}">
      <dgm:prSet/>
      <dgm:spPr/>
      <dgm:t>
        <a:bodyPr/>
        <a:lstStyle/>
        <a:p>
          <a:endParaRPr lang="es-MX"/>
        </a:p>
      </dgm:t>
    </dgm:pt>
    <dgm:pt modelId="{E87B7603-B297-954D-96ED-D4DA3C640C00}" type="sibTrans" cxnId="{DA750D3F-BCFB-CB48-A9E9-2E4453AC95E1}">
      <dgm:prSet/>
      <dgm:spPr/>
      <dgm:t>
        <a:bodyPr/>
        <a:lstStyle/>
        <a:p>
          <a:endParaRPr lang="es-MX"/>
        </a:p>
      </dgm:t>
    </dgm:pt>
    <dgm:pt modelId="{05A05297-8992-0D42-ABC9-63583211F936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AR" b="1" dirty="0">
              <a:solidFill>
                <a:schemeClr val="accent1">
                  <a:lumMod val="50000"/>
                </a:schemeClr>
              </a:solidFill>
            </a:rPr>
            <a:t>Tratamiento y Disposición Final:</a:t>
          </a:r>
          <a:r>
            <a:rPr lang="es-AR" dirty="0">
              <a:solidFill>
                <a:schemeClr val="accent1">
                  <a:lumMod val="50000"/>
                </a:schemeClr>
              </a:solidFill>
            </a:rPr>
            <a:t> (Soluciones de "final de línea") – Mínima prioridad para PML, solo si la prevención no es posible.</a:t>
          </a:r>
          <a:endParaRPr lang="es-MX" dirty="0"/>
        </a:p>
      </dgm:t>
    </dgm:pt>
    <dgm:pt modelId="{0C7149DB-A75E-D14E-960C-0075D90EDC4D}" type="parTrans" cxnId="{3FB1EFC1-20E7-BD41-AB1D-4C457D4CD021}">
      <dgm:prSet/>
      <dgm:spPr/>
      <dgm:t>
        <a:bodyPr/>
        <a:lstStyle/>
        <a:p>
          <a:endParaRPr lang="es-MX"/>
        </a:p>
      </dgm:t>
    </dgm:pt>
    <dgm:pt modelId="{4C4B5480-A67B-994B-BF09-3CBAF0AF5E36}" type="sibTrans" cxnId="{3FB1EFC1-20E7-BD41-AB1D-4C457D4CD021}">
      <dgm:prSet/>
      <dgm:spPr/>
      <dgm:t>
        <a:bodyPr/>
        <a:lstStyle/>
        <a:p>
          <a:endParaRPr lang="es-MX"/>
        </a:p>
      </dgm:t>
    </dgm:pt>
    <dgm:pt modelId="{674901CB-D745-C348-B6C0-3BD2212A8255}" type="pres">
      <dgm:prSet presAssocID="{6BF932C6-66D5-D54C-B5CC-E914260A5189}" presName="compositeShape" presStyleCnt="0">
        <dgm:presLayoutVars>
          <dgm:dir/>
          <dgm:resizeHandles/>
        </dgm:presLayoutVars>
      </dgm:prSet>
      <dgm:spPr/>
    </dgm:pt>
    <dgm:pt modelId="{4FBC8970-0E1B-F645-ACED-D9D49C000259}" type="pres">
      <dgm:prSet presAssocID="{6BF932C6-66D5-D54C-B5CC-E914260A5189}" presName="pyramid" presStyleLbl="node1" presStyleIdx="0" presStyleCnt="1"/>
      <dgm:spPr/>
    </dgm:pt>
    <dgm:pt modelId="{6A664CDA-CA54-D341-9910-6207401DEB01}" type="pres">
      <dgm:prSet presAssocID="{6BF932C6-66D5-D54C-B5CC-E914260A5189}" presName="theList" presStyleCnt="0"/>
      <dgm:spPr/>
    </dgm:pt>
    <dgm:pt modelId="{7AFA896B-7ABF-0A42-844C-115FF99CBEDA}" type="pres">
      <dgm:prSet presAssocID="{95A8947F-2ABB-2047-9EEB-991FFD0A0D43}" presName="aNode" presStyleLbl="fgAcc1" presStyleIdx="0" presStyleCnt="3">
        <dgm:presLayoutVars>
          <dgm:bulletEnabled val="1"/>
        </dgm:presLayoutVars>
      </dgm:prSet>
      <dgm:spPr/>
    </dgm:pt>
    <dgm:pt modelId="{3FE74762-662C-4A4B-A423-4E71320A66FA}" type="pres">
      <dgm:prSet presAssocID="{95A8947F-2ABB-2047-9EEB-991FFD0A0D43}" presName="aSpace" presStyleCnt="0"/>
      <dgm:spPr/>
    </dgm:pt>
    <dgm:pt modelId="{DF601632-46A3-0548-9B5E-AC93B0D24C14}" type="pres">
      <dgm:prSet presAssocID="{0620A89D-3373-494B-85BD-F6E7C4C601E6}" presName="aNode" presStyleLbl="fgAcc1" presStyleIdx="1" presStyleCnt="3">
        <dgm:presLayoutVars>
          <dgm:bulletEnabled val="1"/>
        </dgm:presLayoutVars>
      </dgm:prSet>
      <dgm:spPr/>
    </dgm:pt>
    <dgm:pt modelId="{A128C4D2-D188-4647-8C55-4A7D9BF872F8}" type="pres">
      <dgm:prSet presAssocID="{0620A89D-3373-494B-85BD-F6E7C4C601E6}" presName="aSpace" presStyleCnt="0"/>
      <dgm:spPr/>
    </dgm:pt>
    <dgm:pt modelId="{814FAA53-E852-B34D-BB4C-3D23FA7D631E}" type="pres">
      <dgm:prSet presAssocID="{05A05297-8992-0D42-ABC9-63583211F936}" presName="aNode" presStyleLbl="fgAcc1" presStyleIdx="2" presStyleCnt="3">
        <dgm:presLayoutVars>
          <dgm:bulletEnabled val="1"/>
        </dgm:presLayoutVars>
      </dgm:prSet>
      <dgm:spPr/>
    </dgm:pt>
    <dgm:pt modelId="{87C241A2-2B57-BE44-BCF5-DAE8D00BE9FD}" type="pres">
      <dgm:prSet presAssocID="{05A05297-8992-0D42-ABC9-63583211F936}" presName="aSpace" presStyleCnt="0"/>
      <dgm:spPr/>
    </dgm:pt>
  </dgm:ptLst>
  <dgm:cxnLst>
    <dgm:cxn modelId="{86E6BC3B-085C-5840-A85B-1155FC77FBFC}" type="presOf" srcId="{6BF932C6-66D5-D54C-B5CC-E914260A5189}" destId="{674901CB-D745-C348-B6C0-3BD2212A8255}" srcOrd="0" destOrd="0" presId="urn:microsoft.com/office/officeart/2005/8/layout/pyramid2"/>
    <dgm:cxn modelId="{DA750D3F-BCFB-CB48-A9E9-2E4453AC95E1}" srcId="{6BF932C6-66D5-D54C-B5CC-E914260A5189}" destId="{0620A89D-3373-494B-85BD-F6E7C4C601E6}" srcOrd="1" destOrd="0" parTransId="{FA9450C7-1C86-224B-8F95-A1041189502E}" sibTransId="{E87B7603-B297-954D-96ED-D4DA3C640C00}"/>
    <dgm:cxn modelId="{D65E355C-DEB2-7D4A-AC8E-341950BD0652}" type="presOf" srcId="{0620A89D-3373-494B-85BD-F6E7C4C601E6}" destId="{DF601632-46A3-0548-9B5E-AC93B0D24C14}" srcOrd="0" destOrd="0" presId="urn:microsoft.com/office/officeart/2005/8/layout/pyramid2"/>
    <dgm:cxn modelId="{6F9B2681-B8F0-F645-8C88-39E55E7425AD}" type="presOf" srcId="{95A8947F-2ABB-2047-9EEB-991FFD0A0D43}" destId="{7AFA896B-7ABF-0A42-844C-115FF99CBEDA}" srcOrd="0" destOrd="0" presId="urn:microsoft.com/office/officeart/2005/8/layout/pyramid2"/>
    <dgm:cxn modelId="{2A424F86-3C4D-7F4C-8B59-3E928D5FC6CE}" type="presOf" srcId="{05A05297-8992-0D42-ABC9-63583211F936}" destId="{814FAA53-E852-B34D-BB4C-3D23FA7D631E}" srcOrd="0" destOrd="0" presId="urn:microsoft.com/office/officeart/2005/8/layout/pyramid2"/>
    <dgm:cxn modelId="{3FB1EFC1-20E7-BD41-AB1D-4C457D4CD021}" srcId="{6BF932C6-66D5-D54C-B5CC-E914260A5189}" destId="{05A05297-8992-0D42-ABC9-63583211F936}" srcOrd="2" destOrd="0" parTransId="{0C7149DB-A75E-D14E-960C-0075D90EDC4D}" sibTransId="{4C4B5480-A67B-994B-BF09-3CBAF0AF5E36}"/>
    <dgm:cxn modelId="{4659B5D0-E280-4445-8E95-F27766B1CDA9}" srcId="{6BF932C6-66D5-D54C-B5CC-E914260A5189}" destId="{95A8947F-2ABB-2047-9EEB-991FFD0A0D43}" srcOrd="0" destOrd="0" parTransId="{9153D080-9344-2C4A-B042-B00A26B70CF1}" sibTransId="{93B49B66-4AF3-3443-81BF-ABE11BF0A1F4}"/>
    <dgm:cxn modelId="{4F338E72-153F-8E44-B528-9D65D2C57C03}" type="presParOf" srcId="{674901CB-D745-C348-B6C0-3BD2212A8255}" destId="{4FBC8970-0E1B-F645-ACED-D9D49C000259}" srcOrd="0" destOrd="0" presId="urn:microsoft.com/office/officeart/2005/8/layout/pyramid2"/>
    <dgm:cxn modelId="{54EDBD81-51AD-2E4A-A3CB-EF645DC33E96}" type="presParOf" srcId="{674901CB-D745-C348-B6C0-3BD2212A8255}" destId="{6A664CDA-CA54-D341-9910-6207401DEB01}" srcOrd="1" destOrd="0" presId="urn:microsoft.com/office/officeart/2005/8/layout/pyramid2"/>
    <dgm:cxn modelId="{0CA44AD0-AAA0-FF45-ADEF-9B99F65F0DE2}" type="presParOf" srcId="{6A664CDA-CA54-D341-9910-6207401DEB01}" destId="{7AFA896B-7ABF-0A42-844C-115FF99CBEDA}" srcOrd="0" destOrd="0" presId="urn:microsoft.com/office/officeart/2005/8/layout/pyramid2"/>
    <dgm:cxn modelId="{B9E72708-E8C2-0A4A-B185-2C800E4F2677}" type="presParOf" srcId="{6A664CDA-CA54-D341-9910-6207401DEB01}" destId="{3FE74762-662C-4A4B-A423-4E71320A66FA}" srcOrd="1" destOrd="0" presId="urn:microsoft.com/office/officeart/2005/8/layout/pyramid2"/>
    <dgm:cxn modelId="{EF2B1E6A-930A-C849-A36E-14491E13516F}" type="presParOf" srcId="{6A664CDA-CA54-D341-9910-6207401DEB01}" destId="{DF601632-46A3-0548-9B5E-AC93B0D24C14}" srcOrd="2" destOrd="0" presId="urn:microsoft.com/office/officeart/2005/8/layout/pyramid2"/>
    <dgm:cxn modelId="{054FF81F-FB60-9D4A-ACE7-7815900AE52B}" type="presParOf" srcId="{6A664CDA-CA54-D341-9910-6207401DEB01}" destId="{A128C4D2-D188-4647-8C55-4A7D9BF872F8}" srcOrd="3" destOrd="0" presId="urn:microsoft.com/office/officeart/2005/8/layout/pyramid2"/>
    <dgm:cxn modelId="{D085FD16-0570-E743-87EC-FD1966F2CFA4}" type="presParOf" srcId="{6A664CDA-CA54-D341-9910-6207401DEB01}" destId="{814FAA53-E852-B34D-BB4C-3D23FA7D631E}" srcOrd="4" destOrd="0" presId="urn:microsoft.com/office/officeart/2005/8/layout/pyramid2"/>
    <dgm:cxn modelId="{E21E25EF-3318-864B-8467-0CEB9744BAE4}" type="presParOf" srcId="{6A664CDA-CA54-D341-9910-6207401DEB01}" destId="{87C241A2-2B57-BE44-BCF5-DAE8D00BE9FD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5FA24-ED8A-5842-AECE-AE33D547E963}">
      <dsp:nvSpPr>
        <dsp:cNvPr id="0" name=""/>
        <dsp:cNvSpPr/>
      </dsp:nvSpPr>
      <dsp:spPr>
        <a:xfrm>
          <a:off x="0" y="352809"/>
          <a:ext cx="5181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40F45-518F-234B-93D6-F3C9D67CC040}">
      <dsp:nvSpPr>
        <dsp:cNvPr id="0" name=""/>
        <dsp:cNvSpPr/>
      </dsp:nvSpPr>
      <dsp:spPr>
        <a:xfrm>
          <a:off x="259080" y="72369"/>
          <a:ext cx="3627120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1ra. Etapa: Planeamiento y organización. </a:t>
          </a:r>
          <a:endParaRPr lang="es-MX" sz="1400" kern="1200" dirty="0"/>
        </a:p>
      </dsp:txBody>
      <dsp:txXfrm>
        <a:off x="286460" y="99749"/>
        <a:ext cx="3572360" cy="506119"/>
      </dsp:txXfrm>
    </dsp:sp>
    <dsp:sp modelId="{D623C0B0-5047-F24D-B94E-9CB90A661C88}">
      <dsp:nvSpPr>
        <dsp:cNvPr id="0" name=""/>
        <dsp:cNvSpPr/>
      </dsp:nvSpPr>
      <dsp:spPr>
        <a:xfrm>
          <a:off x="0" y="1214649"/>
          <a:ext cx="5181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6D1FA-B2CC-B640-B258-CE895BE5A585}">
      <dsp:nvSpPr>
        <dsp:cNvPr id="0" name=""/>
        <dsp:cNvSpPr/>
      </dsp:nvSpPr>
      <dsp:spPr>
        <a:xfrm>
          <a:off x="259080" y="934209"/>
          <a:ext cx="3627120" cy="56087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2da. Etapa: Diagnóstico de Producción Más Limpia. </a:t>
          </a:r>
          <a:endParaRPr lang="es-MX" sz="1400" kern="1200" dirty="0"/>
        </a:p>
      </dsp:txBody>
      <dsp:txXfrm>
        <a:off x="286460" y="961589"/>
        <a:ext cx="3572360" cy="506119"/>
      </dsp:txXfrm>
    </dsp:sp>
    <dsp:sp modelId="{8C3D8815-240A-CD4B-B49C-87CBE91343CD}">
      <dsp:nvSpPr>
        <dsp:cNvPr id="0" name=""/>
        <dsp:cNvSpPr/>
      </dsp:nvSpPr>
      <dsp:spPr>
        <a:xfrm>
          <a:off x="0" y="2076489"/>
          <a:ext cx="5181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A820F-C100-484E-9E57-B6793913F77B}">
      <dsp:nvSpPr>
        <dsp:cNvPr id="0" name=""/>
        <dsp:cNvSpPr/>
      </dsp:nvSpPr>
      <dsp:spPr>
        <a:xfrm>
          <a:off x="259080" y="1796049"/>
          <a:ext cx="3627120" cy="56087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3ra. Etapa: Estudio de Factibilidad. </a:t>
          </a:r>
          <a:endParaRPr lang="es-MX" sz="1400" kern="1200" dirty="0"/>
        </a:p>
      </dsp:txBody>
      <dsp:txXfrm>
        <a:off x="286460" y="1823429"/>
        <a:ext cx="3572360" cy="506119"/>
      </dsp:txXfrm>
    </dsp:sp>
    <dsp:sp modelId="{F2F75337-7611-8F42-964F-0EFFB772B1A7}">
      <dsp:nvSpPr>
        <dsp:cNvPr id="0" name=""/>
        <dsp:cNvSpPr/>
      </dsp:nvSpPr>
      <dsp:spPr>
        <a:xfrm>
          <a:off x="0" y="2938329"/>
          <a:ext cx="5181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1C8A9-EF1B-1A41-88A1-3C8E8DE06FDB}">
      <dsp:nvSpPr>
        <dsp:cNvPr id="0" name=""/>
        <dsp:cNvSpPr/>
      </dsp:nvSpPr>
      <dsp:spPr>
        <a:xfrm>
          <a:off x="259080" y="2657889"/>
          <a:ext cx="3627120" cy="56087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4ta. Etapa: Implementación y seguimiento de las oportunidades de Producción Más Limpia.</a:t>
          </a:r>
        </a:p>
      </dsp:txBody>
      <dsp:txXfrm>
        <a:off x="286460" y="2685269"/>
        <a:ext cx="3572360" cy="506119"/>
      </dsp:txXfrm>
    </dsp:sp>
    <dsp:sp modelId="{2B5C58BC-7B56-CB40-95CD-DC0458B23902}">
      <dsp:nvSpPr>
        <dsp:cNvPr id="0" name=""/>
        <dsp:cNvSpPr/>
      </dsp:nvSpPr>
      <dsp:spPr>
        <a:xfrm>
          <a:off x="0" y="3800169"/>
          <a:ext cx="5181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08BAF-4CC0-B040-8A4E-AA0B91AEA01F}">
      <dsp:nvSpPr>
        <dsp:cNvPr id="0" name=""/>
        <dsp:cNvSpPr/>
      </dsp:nvSpPr>
      <dsp:spPr>
        <a:xfrm>
          <a:off x="259080" y="3519729"/>
          <a:ext cx="3627120" cy="56087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5ta. Etapa: Mejora Continua. </a:t>
          </a:r>
        </a:p>
      </dsp:txBody>
      <dsp:txXfrm>
        <a:off x="286460" y="3547109"/>
        <a:ext cx="3572360" cy="506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C8970-0E1B-F645-ACED-D9D49C000259}">
      <dsp:nvSpPr>
        <dsp:cNvPr id="0" name=""/>
        <dsp:cNvSpPr/>
      </dsp:nvSpPr>
      <dsp:spPr>
        <a:xfrm>
          <a:off x="2755780" y="0"/>
          <a:ext cx="4351338" cy="4351338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A896B-7ABF-0A42-844C-115FF99CBEDA}">
      <dsp:nvSpPr>
        <dsp:cNvPr id="0" name=""/>
        <dsp:cNvSpPr/>
      </dsp:nvSpPr>
      <dsp:spPr>
        <a:xfrm>
          <a:off x="4931449" y="437470"/>
          <a:ext cx="2828369" cy="103004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AR" sz="1400" b="1" kern="1200" dirty="0">
              <a:solidFill>
                <a:schemeClr val="accent1">
                  <a:lumMod val="50000"/>
                </a:schemeClr>
              </a:solidFill>
            </a:rPr>
            <a:t>Eliminación/Reducción en la Fuente:</a:t>
          </a:r>
          <a:r>
            <a:rPr lang="es-AR" sz="1400" kern="1200" dirty="0">
              <a:solidFill>
                <a:schemeClr val="accent1">
                  <a:lumMod val="50000"/>
                </a:schemeClr>
              </a:solidFill>
            </a:rPr>
            <a:t> (Prevención) – Máxima prioridad.</a:t>
          </a:r>
          <a:endParaRPr lang="es-MX" sz="1400" kern="1200" dirty="0"/>
        </a:p>
      </dsp:txBody>
      <dsp:txXfrm>
        <a:off x="4981732" y="487753"/>
        <a:ext cx="2727803" cy="929477"/>
      </dsp:txXfrm>
    </dsp:sp>
    <dsp:sp modelId="{DF601632-46A3-0548-9B5E-AC93B0D24C14}">
      <dsp:nvSpPr>
        <dsp:cNvPr id="0" name=""/>
        <dsp:cNvSpPr/>
      </dsp:nvSpPr>
      <dsp:spPr>
        <a:xfrm>
          <a:off x="4931449" y="1596269"/>
          <a:ext cx="2828369" cy="103004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AR" sz="1400" b="1" kern="1200" dirty="0">
              <a:solidFill>
                <a:schemeClr val="accent1">
                  <a:lumMod val="50000"/>
                </a:schemeClr>
              </a:solidFill>
            </a:rPr>
            <a:t>Reutilización y Reciclaje:</a:t>
          </a:r>
          <a:r>
            <a:rPr lang="es-AR" sz="1400" kern="1200" dirty="0">
              <a:solidFill>
                <a:schemeClr val="accent1">
                  <a:lumMod val="50000"/>
                </a:schemeClr>
              </a:solidFill>
            </a:rPr>
            <a:t> (Dentro o fuera de la empresa).</a:t>
          </a:r>
          <a:endParaRPr lang="es-MX" sz="1400" kern="1200" dirty="0"/>
        </a:p>
      </dsp:txBody>
      <dsp:txXfrm>
        <a:off x="4981732" y="1646552"/>
        <a:ext cx="2727803" cy="929477"/>
      </dsp:txXfrm>
    </dsp:sp>
    <dsp:sp modelId="{814FAA53-E852-B34D-BB4C-3D23FA7D631E}">
      <dsp:nvSpPr>
        <dsp:cNvPr id="0" name=""/>
        <dsp:cNvSpPr/>
      </dsp:nvSpPr>
      <dsp:spPr>
        <a:xfrm>
          <a:off x="4931449" y="2755068"/>
          <a:ext cx="2828369" cy="103004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AR" sz="1400" b="1" kern="1200" dirty="0">
              <a:solidFill>
                <a:schemeClr val="accent1">
                  <a:lumMod val="50000"/>
                </a:schemeClr>
              </a:solidFill>
            </a:rPr>
            <a:t>Tratamiento y Disposición Final:</a:t>
          </a:r>
          <a:r>
            <a:rPr lang="es-AR" sz="1400" kern="1200" dirty="0">
              <a:solidFill>
                <a:schemeClr val="accent1">
                  <a:lumMod val="50000"/>
                </a:schemeClr>
              </a:solidFill>
            </a:rPr>
            <a:t> (Soluciones de "final de línea") – Mínima prioridad para PML, solo si la prevención no es posible.</a:t>
          </a:r>
          <a:endParaRPr lang="es-MX" sz="1400" kern="1200" dirty="0"/>
        </a:p>
      </dsp:txBody>
      <dsp:txXfrm>
        <a:off x="4981732" y="2805351"/>
        <a:ext cx="2727803" cy="929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D6397-FC9C-D541-9366-6FD9F3D17114}" type="datetimeFigureOut">
              <a:rPr lang="es-AR" smtClean="0"/>
              <a:t>28/11/25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5B82-6795-F846-9FB4-C44E37E2BF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761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D5B82-6795-F846-9FB4-C44E37E2BFDE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051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84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512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085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85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453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668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499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890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721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120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710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8F1B7-E5BE-4380-9EB8-EE8D7492FA4D}" type="datetimeFigureOut">
              <a:rPr lang="es-PE" smtClean="0"/>
              <a:t>28/11/25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169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33F37-9CDF-15C3-49BB-64AE26843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6878" y="4190036"/>
            <a:ext cx="8915399" cy="1385034"/>
          </a:xfrm>
        </p:spPr>
        <p:txBody>
          <a:bodyPr>
            <a:normAutofit fontScale="90000"/>
          </a:bodyPr>
          <a:lstStyle/>
          <a:p>
            <a:r>
              <a:rPr lang="es-PE" sz="4800" b="1" dirty="0">
                <a:solidFill>
                  <a:schemeClr val="accent1"/>
                </a:solidFill>
                <a:latin typeface="Bernard MT Condensed" panose="02050806060905020404" pitchFamily="18" charset="77"/>
              </a:rPr>
              <a:t>TECNOLOGIAS LIMPIAS EN PROCESOS INDUSTRIALES</a:t>
            </a:r>
            <a:endParaRPr lang="es-AR" sz="4800" dirty="0">
              <a:solidFill>
                <a:schemeClr val="accen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F84A92-7213-7DBF-F669-188ED288A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48727"/>
            <a:ext cx="8915399" cy="538707"/>
          </a:xfrm>
        </p:spPr>
        <p:txBody>
          <a:bodyPr/>
          <a:lstStyle/>
          <a:p>
            <a:pPr algn="l"/>
            <a:r>
              <a:rPr lang="es-AR" dirty="0" err="1">
                <a:solidFill>
                  <a:schemeClr val="bg1"/>
                </a:solidFill>
              </a:rPr>
              <a:t>Mgt</a:t>
            </a:r>
            <a:r>
              <a:rPr lang="es-AR" dirty="0">
                <a:solidFill>
                  <a:schemeClr val="bg1"/>
                </a:solidFill>
              </a:rPr>
              <a:t>. Ing. </a:t>
            </a:r>
            <a:r>
              <a:rPr lang="es-AR" dirty="0" err="1">
                <a:solidFill>
                  <a:schemeClr val="bg1"/>
                </a:solidFill>
              </a:rPr>
              <a:t>Guisell</a:t>
            </a:r>
            <a:r>
              <a:rPr lang="es-AR" dirty="0">
                <a:solidFill>
                  <a:schemeClr val="bg1"/>
                </a:solidFill>
              </a:rPr>
              <a:t> Aedo Vega Centeno</a:t>
            </a:r>
          </a:p>
        </p:txBody>
      </p:sp>
    </p:spTree>
    <p:extLst>
      <p:ext uri="{BB962C8B-B14F-4D97-AF65-F5344CB8AC3E}">
        <p14:creationId xmlns:p14="http://schemas.microsoft.com/office/powerpoint/2010/main" val="139253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157164-2A91-48C4-3767-A9F489A7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798" y="2957239"/>
            <a:ext cx="5620473" cy="1380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dirty="0"/>
              <a:t>¿CÓMO IMPLEMENTAR LA PRODUCCIÓN MAS LIMPIA EN LA INDUSTRIA?</a:t>
            </a:r>
          </a:p>
        </p:txBody>
      </p:sp>
      <p:pic>
        <p:nvPicPr>
          <p:cNvPr id="5" name="Picture 2" descr="Ventajas de la producción limpia">
            <a:extLst>
              <a:ext uri="{FF2B5EF4-FFF2-40B4-BE49-F238E27FC236}">
                <a16:creationId xmlns:a16="http://schemas.microsoft.com/office/drawing/2014/main" id="{7270EA56-BA27-84E9-E7AF-555BC5F94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571" y="2189562"/>
            <a:ext cx="3823424" cy="291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89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7EFB4-B9DD-6075-82FE-ACF3041E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8170"/>
          </a:xfrm>
        </p:spPr>
        <p:txBody>
          <a:bodyPr>
            <a:normAutofit fontScale="90000"/>
          </a:bodyPr>
          <a:lstStyle/>
          <a:p>
            <a:r>
              <a:rPr lang="es-AR" dirty="0"/>
              <a:t>METODOLOGÍA PARA DESARROLLAR UN PROGRAMA DE PRODUCCIÓN MÁS LIMPIA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EADB75-FFCB-B3B2-C8B1-BFFB3F34F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4300"/>
            <a:ext cx="5181600" cy="2060575"/>
          </a:xfrm>
        </p:spPr>
        <p:txBody>
          <a:bodyPr>
            <a:normAutofit/>
          </a:bodyPr>
          <a:lstStyle/>
          <a:p>
            <a:r>
              <a:rPr lang="es-AR" dirty="0"/>
              <a:t>La implementación de un programa de Producción Más Limpia en una organización es un proceso compuesto de 5 etapas: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D902642-178C-38F5-77F7-1776EF58D5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153955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0968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74EB053-C425-6D6A-2814-498C310C9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28862" y="287401"/>
            <a:ext cx="7220653" cy="628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33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BC899-D075-8FA8-C87A-6B49F00C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130"/>
          </a:xfrm>
        </p:spPr>
        <p:txBody>
          <a:bodyPr/>
          <a:lstStyle/>
          <a:p>
            <a:r>
              <a:rPr lang="es-AR" dirty="0"/>
              <a:t>1ra. Etapa: Planeamiento y organización </a:t>
            </a:r>
          </a:p>
        </p:txBody>
      </p:sp>
      <p:graphicFrame>
        <p:nvGraphicFramePr>
          <p:cNvPr id="11" name="Marcador de contenido 6">
            <a:extLst>
              <a:ext uri="{FF2B5EF4-FFF2-40B4-BE49-F238E27FC236}">
                <a16:creationId xmlns:a16="http://schemas.microsoft.com/office/drawing/2014/main" id="{ABB07B8C-CC74-3DA5-F53F-29392A2A2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019473"/>
              </p:ext>
            </p:extLst>
          </p:nvPr>
        </p:nvGraphicFramePr>
        <p:xfrm>
          <a:off x="838200" y="1825625"/>
          <a:ext cx="10515600" cy="3627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173261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0006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A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Elemento Clave</a:t>
                      </a:r>
                      <a:endParaRPr lang="es-AR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Descripción Detallada</a:t>
                      </a:r>
                      <a:endParaRPr lang="es-AR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87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AR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Compromiso Gerencial</a:t>
                      </a:r>
                      <a:endParaRPr lang="es-AR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 Alta Dirección debe formalizar su compromiso con la PML, establecer una </a:t>
                      </a:r>
                      <a:r>
                        <a:rPr lang="es-A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Política Ambiental</a:t>
                      </a:r>
                      <a:r>
                        <a:rPr lang="es-A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y asignar los recursos necesarios.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60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AR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Comité de PML</a:t>
                      </a:r>
                      <a:endParaRPr lang="es-AR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conforma un equipo de trabajo multidisciplinario (producción, mantenimiento, finanzas, seguridad) responsable de coordinar y ejecutar el programa.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95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A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 de Alcance</a:t>
                      </a:r>
                      <a:endParaRPr lang="es-AR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identifican y seleccionan los procesos, productos o servicios que serán objeto del estudio de PML (por ejemplo, el proceso con mayor consumo de agua o energía).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632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856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8AC8C24-1D5D-B3F9-EE76-32F7F71A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20A27452-465E-CD9A-65D9-DB33E0ACF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Constituir un Comité de Producción Más Limpia que sea responsable de la implementación y coordinación de las actividades del programa. </a:t>
            </a:r>
          </a:p>
          <a:p>
            <a:r>
              <a:rPr lang="es-AR" dirty="0"/>
              <a:t>Nombrar como responsable del comité a una persona que tenga la jerarquía y la autoridad suficiente para garantizar la realización del programa. </a:t>
            </a:r>
          </a:p>
          <a:p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Garantizar los recursos económicos y humanos necesarios para el apoyo del programa. </a:t>
            </a:r>
          </a:p>
          <a:p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Difundir las metas del programa en la organización y estimular la participación y el interés de todos los trabajadores. </a:t>
            </a:r>
          </a:p>
        </p:txBody>
      </p:sp>
    </p:spTree>
    <p:extLst>
      <p:ext uri="{BB962C8B-B14F-4D97-AF65-F5344CB8AC3E}">
        <p14:creationId xmlns:p14="http://schemas.microsoft.com/office/powerpoint/2010/main" val="371880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51B4A-D7C4-6102-4706-B763F751D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945" y="221225"/>
            <a:ext cx="5157787" cy="823912"/>
          </a:xfrm>
        </p:spPr>
        <p:txBody>
          <a:bodyPr>
            <a:normAutofit/>
          </a:bodyPr>
          <a:lstStyle/>
          <a:p>
            <a:r>
              <a:rPr lang="es-AR" sz="2800" dirty="0"/>
              <a:t>Definir objetivos generales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4ABF550-39E2-A498-0BC7-C40025183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175" y="1879600"/>
            <a:ext cx="6389688" cy="4178300"/>
          </a:xfrm>
        </p:spPr>
        <p:txBody>
          <a:bodyPr>
            <a:noAutofit/>
          </a:bodyPr>
          <a:lstStyle/>
          <a:p>
            <a:r>
              <a:rPr lang="es-AR" sz="2000" dirty="0"/>
              <a:t>Ser competitivo. </a:t>
            </a:r>
          </a:p>
          <a:p>
            <a:r>
              <a:rPr lang="es-AR" sz="2000" dirty="0"/>
              <a:t>Incrementar la productividad. </a:t>
            </a:r>
          </a:p>
          <a:p>
            <a:r>
              <a:rPr lang="es-AR" sz="2000" dirty="0"/>
              <a:t>Disminuir efectos negativos en la salud.</a:t>
            </a:r>
          </a:p>
          <a:p>
            <a:r>
              <a:rPr lang="es-AR" sz="2000" dirty="0"/>
              <a:t>Optimizar las condiciones de operación y proceso. </a:t>
            </a:r>
          </a:p>
          <a:p>
            <a:r>
              <a:rPr lang="es-AR" sz="2000" dirty="0"/>
              <a:t>Reducir los costos de consumo de materias primas y energéticos. </a:t>
            </a:r>
          </a:p>
          <a:p>
            <a:r>
              <a:rPr lang="es-AR" sz="2000" dirty="0"/>
              <a:t>Disminuir emisiones contaminantes al aire, agua y/o suelo.</a:t>
            </a:r>
          </a:p>
          <a:p>
            <a:r>
              <a:rPr lang="es-AR" sz="2000" dirty="0"/>
              <a:t>Reducir costos en la disposición final de los residuos. </a:t>
            </a:r>
          </a:p>
          <a:p>
            <a:r>
              <a:rPr lang="es-AR" sz="2000" dirty="0"/>
              <a:t>Adecuarse a la legislación vigente, con énfasis en la legislación ambiental. </a:t>
            </a:r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D91EA023-DADA-6A18-E465-7C8C200066D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7129463" y="2505075"/>
            <a:ext cx="4653470" cy="27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35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809D56A-B984-61FB-45E0-753353DE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34" y="365126"/>
            <a:ext cx="10775066" cy="931240"/>
          </a:xfrm>
        </p:spPr>
        <p:txBody>
          <a:bodyPr>
            <a:normAutofit/>
          </a:bodyPr>
          <a:lstStyle/>
          <a:p>
            <a:r>
              <a:rPr lang="es-AR" sz="4000" dirty="0"/>
              <a:t>2da. Etapa: Diagnóstico de Producción Más Limpia 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236D15AD-EC61-882D-6FF6-6CF989AFA4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4714" y="1825625"/>
          <a:ext cx="9382572" cy="4351339"/>
        </p:xfrm>
        <a:graphic>
          <a:graphicData uri="http://schemas.openxmlformats.org/drawingml/2006/table">
            <a:tbl>
              <a:tblPr/>
              <a:tblGrid>
                <a:gridCol w="4691286">
                  <a:extLst>
                    <a:ext uri="{9D8B030D-6E8A-4147-A177-3AD203B41FA5}">
                      <a16:colId xmlns:a16="http://schemas.microsoft.com/office/drawing/2014/main" val="2243082017"/>
                    </a:ext>
                  </a:extLst>
                </a:gridCol>
                <a:gridCol w="4691286">
                  <a:extLst>
                    <a:ext uri="{9D8B030D-6E8A-4147-A177-3AD203B41FA5}">
                      <a16:colId xmlns:a16="http://schemas.microsoft.com/office/drawing/2014/main" val="3468208052"/>
                    </a:ext>
                  </a:extLst>
                </a:gridCol>
              </a:tblGrid>
              <a:tr h="380742"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Elemento Clave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Descripción Detallada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63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Levantamiento de Información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recopilan datos históricos sobre consumos de materias primas, agua, energía, así como sobre la generación de residuos y emisiones.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406084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Diagrama de Flujo y Mapa de Procesos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documenta gráficamente el proceso productivo, identificando todos los puntos de entrada y salida de materiales, agua y energía.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461519"/>
                  </a:ext>
                </a:extLst>
              </a:tr>
              <a:tr h="1359793"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Balance de Materiales y Energía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aplica la ley de conservación de la masa y energía (entradas = salidas + inventario). Este análisis permite determinar con exactitud dónde y </a:t>
                      </a:r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cuánto</a:t>
                      </a:r>
                      <a:r>
                        <a:rPr lang="es-AR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se pierde material (residuos y emisiones) en cada operación unitaria.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879385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rtl="0"/>
                      <a:r>
                        <a:rPr lang="es-AR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Identificación de Oportunidades</a:t>
                      </a:r>
                      <a:endParaRPr lang="es-A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 partir del Balance, se detectan las </a:t>
                      </a:r>
                      <a:r>
                        <a:rPr lang="es-A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causas raíz</a:t>
                      </a:r>
                      <a:r>
                        <a:rPr lang="es-A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 las pérdidas y se genera una lista preliminar de opciones de PML.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775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31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6DAA23-E4EB-D4A6-BFD5-3A6710A6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2" y="1985682"/>
            <a:ext cx="10620375" cy="3153478"/>
          </a:xfrm>
        </p:spPr>
        <p:txBody>
          <a:bodyPr>
            <a:normAutofit/>
          </a:bodyPr>
          <a:lstStyle/>
          <a:p>
            <a:r>
              <a:rPr lang="es-AR" dirty="0"/>
              <a:t>Recopilar y organizar datos de producción/servicio, de consumo de energía, materias primas e insumos, y de generación de residuos y emisiones. </a:t>
            </a:r>
          </a:p>
          <a:p>
            <a:r>
              <a:rPr lang="es-AR" dirty="0"/>
              <a:t>Recopilar información sobre los procesos de la organización. - Evaluar las causas de las ineficiencias en los procesos productivos que resultan en el desperdicio de energía o de materias primas y en la generación de residuos y emisiones. </a:t>
            </a:r>
            <a:r>
              <a:rPr lang="es-AR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6134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FCF14-8661-7977-59A1-18124647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138ECB-596C-D5DC-F6ED-6DF933274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Recopilar también datos preliminares sobre las actividades de la organización tales como: </a:t>
            </a:r>
          </a:p>
          <a:p>
            <a:pPr lvl="1"/>
            <a:r>
              <a:rPr lang="es-AR" dirty="0"/>
              <a:t>los niveles de producción; </a:t>
            </a:r>
          </a:p>
          <a:p>
            <a:pPr lvl="1"/>
            <a:r>
              <a:rPr lang="es-AR" dirty="0"/>
              <a:t>el costo de las materias primas, insumos y energéticos; </a:t>
            </a:r>
          </a:p>
          <a:p>
            <a:pPr lvl="1"/>
            <a:r>
              <a:rPr lang="es-AR" dirty="0"/>
              <a:t>el uso de las materias primas, insumos y energéticos por unidad de producción (estos valores representan los índices de producción y los índices energéticos de la organización); </a:t>
            </a:r>
          </a:p>
          <a:p>
            <a:pPr lvl="1"/>
            <a:r>
              <a:rPr lang="es-AR" dirty="0"/>
              <a:t>el tipo, cantidad y origen de los residuos generados por la organización;</a:t>
            </a:r>
          </a:p>
          <a:p>
            <a:pPr lvl="1"/>
            <a:r>
              <a:rPr lang="es-AR" dirty="0"/>
              <a:t>el costo de tratamiento y disposición de los residuos.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47741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6913-AE57-DC9C-9B31-62A4474F1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>
            <a:normAutofit fontScale="90000"/>
          </a:bodyPr>
          <a:lstStyle/>
          <a:p>
            <a:r>
              <a:rPr lang="es-AR" sz="3200" b="1" dirty="0"/>
              <a:t>Enfocar el trabajo del Comité de Producción Más Limpia en las áreas prioritarias de la organización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5F625B-CB91-C952-D8F0-1B74FDF5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/>
              <a:t>Etapas de mayor generación de residuos y emisiones.</a:t>
            </a:r>
          </a:p>
          <a:p>
            <a:r>
              <a:rPr lang="es-AR" dirty="0"/>
              <a:t>Etapas con mayores pérdidas económicas. </a:t>
            </a:r>
          </a:p>
          <a:p>
            <a:r>
              <a:rPr lang="es-AR" dirty="0"/>
              <a:t>Costo de las materias primas y de la energía. </a:t>
            </a:r>
          </a:p>
          <a:p>
            <a:r>
              <a:rPr lang="es-AR" dirty="0"/>
              <a:t>Cumplimiento con los reglamentos y normas vigentes. </a:t>
            </a:r>
          </a:p>
          <a:p>
            <a:r>
              <a:rPr lang="es-AR" dirty="0"/>
              <a:t>Costos por el manejo de residuos, efluentes y emisiones. </a:t>
            </a:r>
          </a:p>
          <a:p>
            <a:r>
              <a:rPr lang="es-AR" dirty="0"/>
              <a:t>Riesgos para la seguridad del personal y el entorno. </a:t>
            </a:r>
          </a:p>
          <a:p>
            <a:r>
              <a:rPr lang="es-AR" dirty="0"/>
              <a:t>Presupuesto disponible para la realización de las oportunidades de Producción Más Limpia. </a:t>
            </a:r>
          </a:p>
          <a:p>
            <a:r>
              <a:rPr lang="es-AR" dirty="0"/>
              <a:t>Capacidad de la organización para obtener medios de financiamiento.</a:t>
            </a:r>
          </a:p>
          <a:p>
            <a:r>
              <a:rPr lang="es-AR" dirty="0"/>
              <a:t>Expectativas respecto a la competitividad de la organización. </a:t>
            </a:r>
          </a:p>
        </p:txBody>
      </p:sp>
    </p:spTree>
    <p:extLst>
      <p:ext uri="{BB962C8B-B14F-4D97-AF65-F5344CB8AC3E}">
        <p14:creationId xmlns:p14="http://schemas.microsoft.com/office/powerpoint/2010/main" val="2929911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17EA0-92A0-96CC-9D81-E73B7FFD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381"/>
          </a:xfrm>
        </p:spPr>
        <p:txBody>
          <a:bodyPr>
            <a:normAutofit/>
          </a:bodyPr>
          <a:lstStyle/>
          <a:p>
            <a:r>
              <a:rPr lang="es-AR" sz="2800" b="1" dirty="0"/>
              <a:t>Elaboración de balances de materiales y de energía para las operaciones/procesos unitarios o actividades prioritarias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907BA28-7D38-916D-EB00-068BB7B9D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76450" y="2401094"/>
            <a:ext cx="80391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42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64CF85-1244-87A4-75A5-E49D30108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7238"/>
            <a:ext cx="10515600" cy="5419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3000" dirty="0"/>
              <a:t>Fuentes de información para elaborar el balance de materiales: </a:t>
            </a:r>
          </a:p>
          <a:p>
            <a:pPr lvl="1"/>
            <a:endParaRPr lang="es-AR" dirty="0"/>
          </a:p>
          <a:p>
            <a:pPr lvl="1"/>
            <a:r>
              <a:rPr lang="es-AR" dirty="0"/>
              <a:t>Registros de compra de materias primas:</a:t>
            </a:r>
          </a:p>
          <a:p>
            <a:pPr lvl="1"/>
            <a:r>
              <a:rPr lang="es-AR" dirty="0"/>
              <a:t>Inventarios de material y emisiones. </a:t>
            </a:r>
          </a:p>
          <a:p>
            <a:pPr lvl="1"/>
            <a:r>
              <a:rPr lang="es-AR" dirty="0"/>
              <a:t>Registro de composición de lotes.</a:t>
            </a:r>
          </a:p>
          <a:p>
            <a:pPr lvl="1"/>
            <a:r>
              <a:rPr lang="es-AR" dirty="0"/>
              <a:t>Especificaciones de producto.</a:t>
            </a:r>
          </a:p>
          <a:p>
            <a:pPr lvl="1"/>
            <a:r>
              <a:rPr lang="es-AR" dirty="0"/>
              <a:t>Registros de operación. </a:t>
            </a:r>
          </a:p>
          <a:p>
            <a:pPr lvl="1"/>
            <a:r>
              <a:rPr lang="es-AR" dirty="0"/>
              <a:t>Procedimientos de operación estándar y manuales de operación. </a:t>
            </a:r>
          </a:p>
          <a:p>
            <a:pPr lvl="1"/>
            <a:r>
              <a:rPr lang="es-AR" dirty="0"/>
              <a:t>Muestreo y análisis de mediciones de materia prima, materiales de suministro, productos, residuos, emisiones y efluentes. </a:t>
            </a:r>
          </a:p>
          <a:p>
            <a:pPr lvl="1"/>
            <a:r>
              <a:rPr lang="es-AR" dirty="0"/>
              <a:t>Facturación de energía eléctrica, agua, combustible. </a:t>
            </a:r>
          </a:p>
          <a:p>
            <a:pPr lvl="1"/>
            <a:r>
              <a:rPr lang="es-AR" dirty="0"/>
              <a:t>Limpieza de equipo y procedimientos de operación. </a:t>
            </a:r>
          </a:p>
          <a:p>
            <a:pPr lvl="1"/>
            <a:r>
              <a:rPr lang="es-AR" dirty="0"/>
              <a:t>Referencias bibliográficas, apoyo de consultoría y lluvia de ideas del personal de la organización. </a:t>
            </a:r>
          </a:p>
        </p:txBody>
      </p:sp>
    </p:spTree>
    <p:extLst>
      <p:ext uri="{BB962C8B-B14F-4D97-AF65-F5344CB8AC3E}">
        <p14:creationId xmlns:p14="http://schemas.microsoft.com/office/powerpoint/2010/main" val="139637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08515-3D2E-2EFB-A581-F106403E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3600" b="1" dirty="0"/>
              <a:t>Detección de la Causa Raíz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BD2FB-0602-2223-AB39-83230CA60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52196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AR" dirty="0"/>
              <a:t>Una vez cuantificada la pérdida, se pasa al análisis cualitativo.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Herramienta de Análisis:</a:t>
            </a:r>
            <a:r>
              <a:rPr lang="es-AR" dirty="0"/>
              <a:t> Se utilizan herramientas como el </a:t>
            </a:r>
            <a:r>
              <a:rPr lang="es-AR" b="1" dirty="0">
                <a:solidFill>
                  <a:srgbClr val="FF0000"/>
                </a:solidFill>
              </a:rPr>
              <a:t>Diagrama Causa-Efecto (Ishikawa)</a:t>
            </a:r>
            <a:r>
              <a:rPr lang="es-AR" dirty="0"/>
              <a:t> o el método de los </a:t>
            </a:r>
            <a:r>
              <a:rPr lang="es-AR" b="1" dirty="0">
                <a:solidFill>
                  <a:srgbClr val="FF0000"/>
                </a:solidFill>
              </a:rPr>
              <a:t>5 Porqués</a:t>
            </a:r>
            <a:r>
              <a:rPr lang="es-AR" dirty="0">
                <a:solidFill>
                  <a:srgbClr val="FF0000"/>
                </a:solidFill>
              </a:rPr>
              <a:t> </a:t>
            </a:r>
            <a:r>
              <a:rPr lang="es-AR" dirty="0"/>
              <a:t>para definir las causas de los flujos de contaminantes y las ineficiencias.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Fallas Comunes: </a:t>
            </a:r>
            <a:r>
              <a:rPr lang="es-AR" dirty="0"/>
              <a:t>La </a:t>
            </a:r>
            <a:r>
              <a:rPr lang="es-AR" b="1" dirty="0"/>
              <a:t>GP 900.200:2021</a:t>
            </a:r>
            <a:r>
              <a:rPr lang="es-AR" dirty="0"/>
              <a:t> clasifica las causas de ineficiencia en cuatro categorías principales: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accent1">
                    <a:lumMod val="75000"/>
                  </a:schemeClr>
                </a:solidFill>
              </a:rPr>
              <a:t>Materia Prima:</a:t>
            </a:r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 Baja calidad, inadecuado almacenamiento.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accent1">
                    <a:lumMod val="75000"/>
                  </a:schemeClr>
                </a:solidFill>
              </a:rPr>
              <a:t>Tecnología:</a:t>
            </a:r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 Mal diseño del proceso/equipo, falta de mantenimiento, tecnología obsoleta.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accent1">
                    <a:lumMod val="75000"/>
                  </a:schemeClr>
                </a:solidFill>
              </a:rPr>
              <a:t>Prácticas Operativas:</a:t>
            </a:r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 Falta de personal calificado o desmotivación.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accent1">
                    <a:lumMod val="75000"/>
                  </a:schemeClr>
                </a:solidFill>
              </a:rPr>
              <a:t>Residuos:</a:t>
            </a:r>
            <a:r>
              <a:rPr lang="es-AR" dirty="0">
                <a:solidFill>
                  <a:schemeClr val="accent1">
                    <a:lumMod val="75000"/>
                  </a:schemeClr>
                </a:solidFill>
              </a:rPr>
              <a:t> No tener un programa de segregación o valorización.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13013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C6B51-7AFE-A58B-056F-0DB0EC6E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65937"/>
            <a:ext cx="10515600" cy="850217"/>
          </a:xfrm>
        </p:spPr>
        <p:txBody>
          <a:bodyPr>
            <a:normAutofit/>
          </a:bodyPr>
          <a:lstStyle/>
          <a:p>
            <a:pPr algn="ctr"/>
            <a:r>
              <a:rPr lang="es-AR" sz="2800" b="1" dirty="0">
                <a:solidFill>
                  <a:srgbClr val="FF0000"/>
                </a:solidFill>
              </a:rPr>
              <a:t>Desarrollar oportunidades de Producción Más Limpia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6EBDF2D-9C15-7D2E-8AB8-5DAC04989E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3388262"/>
              </p:ext>
            </p:extLst>
          </p:nvPr>
        </p:nvGraphicFramePr>
        <p:xfrm>
          <a:off x="358815" y="856527"/>
          <a:ext cx="5660986" cy="6001473"/>
        </p:xfrm>
        <a:graphic>
          <a:graphicData uri="http://schemas.openxmlformats.org/drawingml/2006/table">
            <a:tbl>
              <a:tblPr/>
              <a:tblGrid>
                <a:gridCol w="2830493">
                  <a:extLst>
                    <a:ext uri="{9D8B030D-6E8A-4147-A177-3AD203B41FA5}">
                      <a16:colId xmlns:a16="http://schemas.microsoft.com/office/drawing/2014/main" val="1211291637"/>
                    </a:ext>
                  </a:extLst>
                </a:gridCol>
                <a:gridCol w="2830493">
                  <a:extLst>
                    <a:ext uri="{9D8B030D-6E8A-4147-A177-3AD203B41FA5}">
                      <a16:colId xmlns:a16="http://schemas.microsoft.com/office/drawing/2014/main" val="2215998222"/>
                    </a:ext>
                  </a:extLst>
                </a:gridCol>
              </a:tblGrid>
              <a:tr h="289659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Categoría de Estrategia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Descripción y Enfoque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779240"/>
                  </a:ext>
                </a:extLst>
              </a:tr>
              <a:tr h="1358324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Buenas Prácticas Operativas (BPO)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Optimización de procedimientos operativos y administrativos. Tienen como objetivo reducir o eliminar residuos, emisiones y uso ineficiente de insumos mediante el </a:t>
                      </a:r>
                      <a:r>
                        <a:rPr lang="es-A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factor humano y de gestión</a:t>
                      </a:r>
                      <a:r>
                        <a:rPr lang="es-A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Suelen requerir una inversión mínima o nula.</a:t>
                      </a: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79179"/>
                  </a:ext>
                </a:extLst>
              </a:tr>
              <a:tr h="1178356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Cambios en Materiales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Sustitución de insumos por materiales menos tóxicos, menos peligrosos o con un tiempo de vida más largo en anaquel. Busca eliminar residuos generados por impurezas o reducir la formación de compuestos residuales peligrosos.</a:t>
                      </a: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990517"/>
                  </a:ext>
                </a:extLst>
              </a:tr>
              <a:tr h="1358324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Cambios y Modificaciones en Tecnología y/o Equipo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Modificaciones al proceso o servicio para disminuir la generación de residuos/emisiones y lograr un uso eficiente de materiales y energía. Incluye mejor control de procesos, mayor automatización, reingeniería de procesos o actualización tecnológica.</a:t>
                      </a: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818863"/>
                  </a:ext>
                </a:extLst>
              </a:tr>
              <a:tr h="998389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Minimización, Segregación y Valorización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Prácticas que buscan recuperar materiales y energía útiles mediante el reuso o reciclaje </a:t>
                      </a:r>
                      <a:r>
                        <a:rPr lang="es-AR" sz="11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 situ</a:t>
                      </a:r>
                      <a:r>
                        <a:rPr lang="es-AR" sz="11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El enfoque actual en Perú es la </a:t>
                      </a:r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valorización</a:t>
                      </a:r>
                      <a:r>
                        <a:rPr lang="es-AR" sz="11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para la migración hacia una Economía Circular.</a:t>
                      </a: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167283"/>
                  </a:ext>
                </a:extLst>
              </a:tr>
              <a:tr h="818421">
                <a:tc>
                  <a:txBody>
                    <a:bodyPr/>
                    <a:lstStyle/>
                    <a:p>
                      <a:pPr rtl="0"/>
                      <a:r>
                        <a:rPr lang="es-AR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Reformulación/Rediseño del Producto</a:t>
                      </a:r>
                      <a:endParaRPr lang="es-AR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Modificaciones en el diseño del producto para reducir su impacto ambiental durante su producción y a lo largo de su ciclo de vida.</a:t>
                      </a:r>
                    </a:p>
                  </a:txBody>
                  <a:tcPr marL="68850" marR="68850" marT="45900" marB="459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06927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137A3CE-4A4F-1D39-9628-C13320D17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842" y="1724628"/>
            <a:ext cx="5541381" cy="4815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1800" b="1" dirty="0"/>
              <a:t>1. Análisis por Categorías de Estrategia</a:t>
            </a:r>
          </a:p>
          <a:p>
            <a:r>
              <a:rPr lang="es-AR" sz="1800" dirty="0"/>
              <a:t>Esta metodología clasifica las posibles soluciones siguiendo la jerarquía de PML y las estrategias ya probadas. El objetivo es que, para cada causa raíz de pérdida (Ej. "tecnología obsoleta" o "malas prácticas"), se genere una opción dentro de estas categorías:</a:t>
            </a:r>
          </a:p>
          <a:p>
            <a:r>
              <a:rPr lang="es-AR" sz="1800" dirty="0"/>
              <a:t>La generación de una lista preliminar de opciones de Producción Más Limpia (PML) es una etapa creativa y sistemática dentro de la Fase 2: Diagnóstico Detallado de la metodología. Se realiza inmediatamente después de detectar las causas raíz de las ineficiencias.</a:t>
            </a:r>
          </a:p>
          <a:p>
            <a:r>
              <a:rPr lang="es-AR" sz="1800" dirty="0"/>
              <a:t>Según la Guía Peruana GP 900.200:2021 y las prácticas recomendadas, las metodologías clave para generar estas opciones preliminares son:</a:t>
            </a:r>
          </a:p>
          <a:p>
            <a:endParaRPr lang="es-AR" sz="1800" dirty="0"/>
          </a:p>
          <a:p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499177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867DE91-03B2-35AD-CFBB-F338A790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09" y="133631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/>
              <a:t>2. Metodologías de Creatividad Grupal</a:t>
            </a:r>
            <a:endParaRPr lang="es-AR" sz="36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B16FF3-3C00-6BB4-61D2-A2C9F09F0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4790"/>
            <a:ext cx="10839692" cy="5439579"/>
          </a:xfrm>
        </p:spPr>
        <p:txBody>
          <a:bodyPr>
            <a:normAutofit/>
          </a:bodyPr>
          <a:lstStyle/>
          <a:p>
            <a:r>
              <a:rPr lang="es-AR" dirty="0"/>
              <a:t>Estas técnicas se aplican al Comité de PML para generar ideas a partir del análisis de causa-raíz.</a:t>
            </a:r>
          </a:p>
          <a:p>
            <a:pPr marL="0" indent="0">
              <a:buNone/>
            </a:pPr>
            <a:endParaRPr lang="es-AR" dirty="0"/>
          </a:p>
          <a:p>
            <a:pPr marL="457200" lvl="1" indent="0">
              <a:buNone/>
            </a:pPr>
            <a:r>
              <a:rPr lang="es-AR" b="1" dirty="0"/>
              <a:t>a. Lluvia de Ideas (</a:t>
            </a:r>
            <a:r>
              <a:rPr lang="es-AR" b="1" dirty="0" err="1"/>
              <a:t>Brainstorming</a:t>
            </a:r>
            <a:r>
              <a:rPr lang="es-AR" b="1" dirty="0"/>
              <a:t>)</a:t>
            </a:r>
          </a:p>
          <a:p>
            <a:pPr marL="457200" lvl="1" indent="0">
              <a:buNone/>
            </a:pPr>
            <a:r>
              <a:rPr lang="es-AR" dirty="0"/>
              <a:t>El Comité de PML (incluyendo operarios, gerentes y técnicos) se reúne para proponer la mayor cantidad de soluciones posibles a las causas raíz identificadas. Es crucial fomentar un ambiente donde no haya juicio inicial sobre las ideas.</a:t>
            </a:r>
          </a:p>
          <a:p>
            <a:pPr marL="457200" lvl="1" indent="0">
              <a:buNone/>
            </a:pPr>
            <a:endParaRPr lang="es-AR" dirty="0"/>
          </a:p>
          <a:p>
            <a:pPr marL="457200" lvl="1" indent="0">
              <a:buNone/>
            </a:pPr>
            <a:r>
              <a:rPr lang="es-AR" b="1" dirty="0"/>
              <a:t>b. Aplicación de la Jerarquía de PML (El Filtro)</a:t>
            </a:r>
          </a:p>
          <a:p>
            <a:pPr marL="457200" lvl="1" indent="0">
              <a:buNone/>
            </a:pPr>
            <a:r>
              <a:rPr lang="es-AR" dirty="0"/>
              <a:t>Toda opción preliminar generada debe ser filtrada inmediatamente con la jerarquía de la PML, priorizando siempre la prevención: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25785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A9706-7FC1-4608-3001-1DD0CE17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0DB6993-FB91-7736-4BA7-DC01B3896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4529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45399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81F150-47F8-C988-8A95-9EA06DACE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2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b="1" dirty="0"/>
              <a:t>3. Benchmarking y Referencias Externas</a:t>
            </a:r>
          </a:p>
          <a:p>
            <a:pPr marL="0" indent="0">
              <a:buNone/>
            </a:pPr>
            <a:r>
              <a:rPr lang="es-AR" dirty="0"/>
              <a:t>El Comité de PML complementa sus ideas internas buscando referencias externas para problemas ya resueltos en otras industrias o países: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Fuentes de Información:</a:t>
            </a:r>
            <a:r>
              <a:rPr lang="es-AR" dirty="0"/>
              <a:t> Se recopila información sobre casos exitosos, Centros Nacionales de Producción Más Limpia (como los históricos de ONUDI/PNUMA), publicaciones industriales y proveedores de equipos.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Adaptación de Tecnología:</a:t>
            </a:r>
            <a:r>
              <a:rPr lang="es-AR" dirty="0"/>
              <a:t> Se buscan innovaciones tecnológicas de otras organizaciones del mismo sector que hayan aplicado PML para adaptar soluciones en lugar de reinventarlas.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435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93492-DE9E-F87F-D5D2-AAED3EFC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837"/>
          </a:xfrm>
        </p:spPr>
        <p:txBody>
          <a:bodyPr/>
          <a:lstStyle/>
          <a:p>
            <a:r>
              <a:rPr lang="es-AR" dirty="0"/>
              <a:t>3ra. Etapa: Estudio de factibilidad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984BC488-2CC5-3F89-9C3B-FF0E17EA05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79113" y="1825625"/>
          <a:ext cx="8433774" cy="4351338"/>
        </p:xfrm>
        <a:graphic>
          <a:graphicData uri="http://schemas.openxmlformats.org/drawingml/2006/table">
            <a:tbl>
              <a:tblPr/>
              <a:tblGrid>
                <a:gridCol w="4216887">
                  <a:extLst>
                    <a:ext uri="{9D8B030D-6E8A-4147-A177-3AD203B41FA5}">
                      <a16:colId xmlns:a16="http://schemas.microsoft.com/office/drawing/2014/main" val="211729273"/>
                    </a:ext>
                  </a:extLst>
                </a:gridCol>
                <a:gridCol w="4216887">
                  <a:extLst>
                    <a:ext uri="{9D8B030D-6E8A-4147-A177-3AD203B41FA5}">
                      <a16:colId xmlns:a16="http://schemas.microsoft.com/office/drawing/2014/main" val="108832317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Elemento Clave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Descripción Detallada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894511"/>
                  </a:ext>
                </a:extLst>
              </a:tr>
              <a:tr h="782263"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Evaluación Técnica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determina si la opción de PML puede integrarse en el proceso sin comprometer la calidad del producto ni la seguridad operativa.</a:t>
                      </a: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85637"/>
                  </a:ext>
                </a:extLst>
              </a:tr>
              <a:tr h="562252"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Evaluación Ambiental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cuantifica la reducción esperada de residuos, emisiones y consumos (beneficio ambiental).</a:t>
                      </a: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934763"/>
                  </a:ext>
                </a:extLst>
              </a:tr>
              <a:tr h="1662309"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Evaluación Económica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crucial. Se calcula la </a:t>
                      </a:r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inversión</a:t>
                      </a:r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requerida y los ahorros proyectados (costos evitados por menor consumo y menor manejo de residuos). Los indicadores utilizados incluyen: </a:t>
                      </a:r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Período de Recuperación (Payback)</a:t>
                      </a:r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(la Guía 2021 recomienda proyectos con </a:t>
                      </a:r>
                      <a:r>
                        <a:rPr lang="es-AR" sz="14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payback</a:t>
                      </a:r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 3 años o menos) y el </a:t>
                      </a:r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Valor Presente Neto (VPN)</a:t>
                      </a:r>
                      <a:r>
                        <a:rPr lang="es-A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441837"/>
                  </a:ext>
                </a:extLst>
              </a:tr>
              <a:tr h="1002274">
                <a:tc>
                  <a:txBody>
                    <a:bodyPr/>
                    <a:lstStyle/>
                    <a:p>
                      <a:pPr rtl="0"/>
                      <a:r>
                        <a:rPr lang="es-A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Selección de Opciones</a:t>
                      </a:r>
                      <a:endParaRPr lang="es-AR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A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Las opciones que demuestran la mejor relación </a:t>
                      </a:r>
                      <a:r>
                        <a:rPr lang="es-A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Costo-Beneficio</a:t>
                      </a:r>
                      <a:r>
                        <a:rPr lang="es-A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(alto impacto ambiental/económico, baja inversión) son priorizadas y seleccionadas para la implementación.</a:t>
                      </a:r>
                    </a:p>
                  </a:txBody>
                  <a:tcPr marL="91671" marR="91671" marT="61114" marB="611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7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293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4186F-A9B9-DB93-03BB-1F5BC0A2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/>
          <a:lstStyle/>
          <a:p>
            <a:r>
              <a:rPr lang="es-AR" b="1" dirty="0"/>
              <a:t>Evaluación técnica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449B70-9039-F64A-50F0-2D3964F0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Debe considerarse el impacto que tendrán esas oportunidades en las </a:t>
            </a:r>
            <a:r>
              <a:rPr lang="es-AR" i="1" dirty="0"/>
              <a:t>tasas de producción, tiempos de operación, adición o eliminación de operación/proceso unitario o actividad, capacitación adicional y/o cambio de personal. </a:t>
            </a:r>
          </a:p>
          <a:p>
            <a:pPr lvl="1"/>
            <a:r>
              <a:rPr lang="es-AR" dirty="0"/>
              <a:t>Detallar los cambios técnicos necesarios para implementar cada oportunidad de Producción Más Limpia.</a:t>
            </a:r>
            <a:endParaRPr lang="es-AR" i="1" dirty="0"/>
          </a:p>
          <a:p>
            <a:pPr lvl="1"/>
            <a:r>
              <a:rPr lang="es-AR" dirty="0"/>
              <a:t>Determinar la factibilidad técnica de implementar los cambios requeridos por cada oportunidad de Producción Más Limpia. </a:t>
            </a:r>
            <a:endParaRPr lang="es-AR" i="1" dirty="0"/>
          </a:p>
          <a:p>
            <a:pPr lvl="1"/>
            <a:r>
              <a:rPr lang="es-AR" dirty="0"/>
              <a:t>Proyectar el impacto de cada oportunidad sobre los consumos de materiales y energía y generación de contaminantes. 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180757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5E814-A6AF-B2F7-F517-694484DED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27" y="78957"/>
            <a:ext cx="10515600" cy="1325563"/>
          </a:xfrm>
        </p:spPr>
        <p:txBody>
          <a:bodyPr/>
          <a:lstStyle/>
          <a:p>
            <a:r>
              <a:rPr lang="es-AR" dirty="0"/>
              <a:t>Evaluación económica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D7B14-0544-BC61-5E1D-EE39769F0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20"/>
            <a:ext cx="10515600" cy="3179512"/>
          </a:xfrm>
        </p:spPr>
        <p:txBody>
          <a:bodyPr/>
          <a:lstStyle/>
          <a:p>
            <a:r>
              <a:rPr lang="es-AR" dirty="0"/>
              <a:t>Determinar si las oportunidades a implantar son rentables para la organización. </a:t>
            </a:r>
          </a:p>
          <a:p>
            <a:r>
              <a:rPr lang="es-AR" dirty="0"/>
              <a:t>Los conceptos financieros que pueden ser utilizados para evaluar la factibilidad económica de una oportunidad de Producción Más Limpia:</a:t>
            </a:r>
          </a:p>
          <a:p>
            <a:pPr lvl="1"/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Los conceptos de periodo de recuperación de la inversión y rentabilidad de la inversión.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402799C-52ED-E0F4-8A14-9E7C7EB42B3C}"/>
              </a:ext>
            </a:extLst>
          </p:cNvPr>
          <p:cNvSpPr txBox="1"/>
          <p:nvPr/>
        </p:nvSpPr>
        <p:spPr>
          <a:xfrm>
            <a:off x="1465848" y="4439378"/>
            <a:ext cx="5690936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dirty="0"/>
              <a:t>Cálculo de Ahorros: Se considerará el potencial de ahorro de gastos que resulta de la aplicación de las oportunidades, teniendo en cuenta los costos de la organización antes de la aplicación de las mismas y comparándolos con los nuevos costos generados por el uso de recursos.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CE1269-A6CE-DCFC-339B-60F0470A846A}"/>
              </a:ext>
            </a:extLst>
          </p:cNvPr>
          <p:cNvSpPr txBox="1"/>
          <p:nvPr/>
        </p:nvSpPr>
        <p:spPr>
          <a:xfrm>
            <a:off x="7880685" y="4300879"/>
            <a:ext cx="3805988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dirty="0"/>
              <a:t>Cálculo de Gastos: Es el cálculo de los costos de la inversión necesaria para implementar oportunidades que reduzcan el consumo de materia prima, agua y energía, y que a la vez, tengan un impacto positivo en el ambiente. </a:t>
            </a:r>
          </a:p>
        </p:txBody>
      </p:sp>
    </p:spTree>
    <p:extLst>
      <p:ext uri="{BB962C8B-B14F-4D97-AF65-F5344CB8AC3E}">
        <p14:creationId xmlns:p14="http://schemas.microsoft.com/office/powerpoint/2010/main" val="1432729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8FBABD7-6447-8763-A1F5-7A0149FE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14A7772-1DA4-AC21-D004-F717CD4A62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2487918"/>
            <a:ext cx="5181600" cy="3026751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983B8F-87AD-6BFB-CBE4-CF2A59B66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5021" y="2371252"/>
            <a:ext cx="5181600" cy="2914817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s-AR" dirty="0"/>
              <a:t>Los costos fijos incrementales, más los costos variables incrementales no deberían ser mayores al ahorro originado por la implementación de las oportunidades de Producción Más Limpia.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751F3C-FA38-B5C1-E02E-E3B5DE13CB93}"/>
              </a:ext>
            </a:extLst>
          </p:cNvPr>
          <p:cNvSpPr txBox="1"/>
          <p:nvPr/>
        </p:nvSpPr>
        <p:spPr>
          <a:xfrm>
            <a:off x="8494295" y="5514669"/>
            <a:ext cx="1239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rgbClr val="FF0000"/>
                </a:solidFill>
              </a:rPr>
              <a:t>Anexo E</a:t>
            </a:r>
          </a:p>
        </p:txBody>
      </p:sp>
    </p:spTree>
    <p:extLst>
      <p:ext uri="{BB962C8B-B14F-4D97-AF65-F5344CB8AC3E}">
        <p14:creationId xmlns:p14="http://schemas.microsoft.com/office/powerpoint/2010/main" val="2920179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34035-DAF2-5472-7ED5-413304F1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5964"/>
          </a:xfrm>
        </p:spPr>
        <p:txBody>
          <a:bodyPr/>
          <a:lstStyle/>
          <a:p>
            <a:r>
              <a:rPr lang="es-AR" dirty="0"/>
              <a:t>Evaluación ambiental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F97BF1-22E2-06FF-641B-E82E2A4180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Destinada a cuantificar el grado de reducción en la generación de emisiones, residuos, efluentes, consumo de energía, consumo de materia prima etc.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BD7299-33E5-C91F-AFD2-56D4B341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720167"/>
            <a:ext cx="5181600" cy="251777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s-AR" dirty="0"/>
              <a:t>Como criterio de selección debe de darse mayor peso a aquellas oportunidades cuya implantación, signifique una reducción de alta escala del impacto ambiental relacionado.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3F136F-8AF4-A079-4EFC-67C2AA4345FD}"/>
              </a:ext>
            </a:extLst>
          </p:cNvPr>
          <p:cNvSpPr txBox="1"/>
          <p:nvPr/>
        </p:nvSpPr>
        <p:spPr>
          <a:xfrm>
            <a:off x="2881715" y="4049979"/>
            <a:ext cx="1239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rgbClr val="FF0000"/>
                </a:solidFill>
              </a:rPr>
              <a:t>Anexo F</a:t>
            </a:r>
          </a:p>
        </p:txBody>
      </p:sp>
    </p:spTree>
    <p:extLst>
      <p:ext uri="{BB962C8B-B14F-4D97-AF65-F5344CB8AC3E}">
        <p14:creationId xmlns:p14="http://schemas.microsoft.com/office/powerpoint/2010/main" val="4184582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93993-1CA7-A62C-0A26-8226C61E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30C24-4893-1C40-2D09-33251F168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4815" y="1733731"/>
            <a:ext cx="5181600" cy="431438"/>
          </a:xfrm>
        </p:spPr>
        <p:txBody>
          <a:bodyPr>
            <a:normAutofit/>
          </a:bodyPr>
          <a:lstStyle/>
          <a:p>
            <a:r>
              <a:rPr lang="es-AR" sz="1800" dirty="0"/>
              <a:t>IDA (Reducción de Pérdida de Materia Prima)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F8353AD-8F75-ECA0-832C-5FA67A5A1B8E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838200" y="1949450"/>
            <a:ext cx="5181600" cy="293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Para nuestro caso de estudio: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Contaminación del suelo/aire.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Generación de residuos sólidos no valorizables.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Riesgo de Toxicidad.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Uso ineficiente de recursos.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039917-DA7D-3A0F-E26D-D8EA09767DE2}"/>
              </a:ext>
            </a:extLst>
          </p:cNvPr>
          <p:cNvSpPr txBox="1"/>
          <p:nvPr/>
        </p:nvSpPr>
        <p:spPr>
          <a:xfrm>
            <a:off x="6880184" y="2953827"/>
            <a:ext cx="518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effectLst/>
              </a:rPr>
              <a:t>IDA (Generación de Residuos Industriales no valorizables):</a:t>
            </a:r>
            <a:r>
              <a:rPr lang="es-AR" dirty="0"/>
              <a:t> </a:t>
            </a:r>
            <a:r>
              <a:rPr lang="es-AR" dirty="0">
                <a:effectLst/>
              </a:rPr>
              <a:t>Kg Residuo PVC no valorizable / Ton de Tubería Producida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70517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57D91-42D7-3001-07F7-ACC89DF4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Seleccionar oportunidades factibles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8FCC1-870B-67C8-9704-3E8531553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/>
              <a:t>Una vez realizadas las evaluaciones, la información recopilada </a:t>
            </a:r>
            <a:r>
              <a:rPr lang="es-AR" dirty="0">
                <a:solidFill>
                  <a:srgbClr val="FF0000"/>
                </a:solidFill>
              </a:rPr>
              <a:t>para cada oportunidad </a:t>
            </a:r>
            <a:r>
              <a:rPr lang="es-AR" dirty="0"/>
              <a:t>debe de ser documentada y se deben establecer los criterios de evaluación final. </a:t>
            </a:r>
          </a:p>
          <a:p>
            <a:r>
              <a:rPr lang="es-AR" dirty="0"/>
              <a:t>La forma de seleccionar las opciones a implantar puede hacerse en base a una clasificación por puntos, ponderando cada una de las evaluaciones realizadas (técnica, económica, ambiental)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77C69CD-6FFE-36EA-0E1A-43DB5CE33A09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019800" y="5752231"/>
            <a:ext cx="1371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s-AR" sz="2400" dirty="0">
                <a:solidFill>
                  <a:srgbClr val="FF0000"/>
                </a:solidFill>
              </a:rPr>
              <a:t>Anexo H</a:t>
            </a:r>
          </a:p>
        </p:txBody>
      </p:sp>
      <p:pic>
        <p:nvPicPr>
          <p:cNvPr id="1026" name="Picture 2" descr="Oportunidades de negocio en la selección de un proyecto: ¿Cómo  identificarlas? | Conexión ESAN">
            <a:extLst>
              <a:ext uri="{FF2B5EF4-FFF2-40B4-BE49-F238E27FC236}">
                <a16:creationId xmlns:a16="http://schemas.microsoft.com/office/drawing/2014/main" id="{D38A08DB-3967-05EB-D2D6-44A2A30B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99" y="1904331"/>
            <a:ext cx="4574006" cy="304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021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0FFFD-AC45-9F23-D204-F6C66022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Alternativas de valoración de PML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CD2602C-FCA4-43A4-355A-BCC722143D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3325791"/>
            <a:ext cx="5181600" cy="1351005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E40AD9-173F-A1D5-4D81-8A35D8698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68532"/>
            <a:ext cx="5582653" cy="4865521"/>
          </a:xfrm>
        </p:spPr>
        <p:txBody>
          <a:bodyPr>
            <a:normAutofit/>
          </a:bodyPr>
          <a:lstStyle/>
          <a:p>
            <a:r>
              <a:rPr lang="es-AR" sz="2000" dirty="0"/>
              <a:t>Beneficio Ambiental: (1:Bajo ahorro en materiales, reducción de residuos y/o emisiones – 5: Alto potencial de ahorro en materiales y/o reducción  de grandes cantidades de residuos/ emisiones)</a:t>
            </a:r>
          </a:p>
          <a:p>
            <a:r>
              <a:rPr lang="es-AR" sz="2000" dirty="0"/>
              <a:t>Beneficio económico: (1: Bajo potencial de ahorro – 5:Alto potencial de ahorro).</a:t>
            </a:r>
          </a:p>
          <a:p>
            <a:r>
              <a:rPr lang="es-AR" sz="2000" dirty="0"/>
              <a:t>Tecnología de intervención: (1: No hay cambios tecnológicos - 5: Cambios tecnológicos radicales en el proceso) </a:t>
            </a:r>
          </a:p>
          <a:p>
            <a:r>
              <a:rPr lang="es-AR" sz="2000" dirty="0"/>
              <a:t>Implementación: (1:No hay cambios en el proceso – 5: hay cambios considerables en el flujo del proceso)</a:t>
            </a:r>
          </a:p>
          <a:p>
            <a:r>
              <a:rPr lang="es-AR" sz="2000" dirty="0"/>
              <a:t>Inversión: (1: No hay costos asociado – 5:Hay altos costos asociados)</a:t>
            </a:r>
          </a:p>
          <a:p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033997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</TotalTime>
  <Words>2244</Words>
  <Application>Microsoft Macintosh PowerPoint</Application>
  <PresentationFormat>Panorámica</PresentationFormat>
  <Paragraphs>160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Bernard MT Condensed</vt:lpstr>
      <vt:lpstr>Calibri</vt:lpstr>
      <vt:lpstr>Calibri Light</vt:lpstr>
      <vt:lpstr>Google Sans Text</vt:lpstr>
      <vt:lpstr>1_Tema de Office</vt:lpstr>
      <vt:lpstr>TECNOLOGIAS LIMPIAS EN PROCESOS INDUSTRIALES</vt:lpstr>
      <vt:lpstr>Presentación de PowerPoint</vt:lpstr>
      <vt:lpstr>METODOLOGÍA PARA DESARROLLAR UN PROGRAMA DE PRODUCCIÓN MÁS LIMPIA</vt:lpstr>
      <vt:lpstr>Presentación de PowerPoint</vt:lpstr>
      <vt:lpstr>1ra. Etapa: Planeamiento y organización </vt:lpstr>
      <vt:lpstr>Presentación de PowerPoint</vt:lpstr>
      <vt:lpstr>Presentación de PowerPoint</vt:lpstr>
      <vt:lpstr>2da. Etapa: Diagnóstico de Producción Más Limpia </vt:lpstr>
      <vt:lpstr>Presentación de PowerPoint</vt:lpstr>
      <vt:lpstr>Presentación de PowerPoint</vt:lpstr>
      <vt:lpstr>Enfocar el trabajo del Comité de Producción Más Limpia en las áreas prioritarias de la organización </vt:lpstr>
      <vt:lpstr>Elaboración de balances de materiales y de energía para las operaciones/procesos unitarios o actividades prioritarias </vt:lpstr>
      <vt:lpstr>Presentación de PowerPoint</vt:lpstr>
      <vt:lpstr>Detección de la Causa Raíz </vt:lpstr>
      <vt:lpstr>Desarrollar oportunidades de Producción Más Limpia</vt:lpstr>
      <vt:lpstr>2. Metodologías de Creatividad Grupal</vt:lpstr>
      <vt:lpstr>Presentación de PowerPoint</vt:lpstr>
      <vt:lpstr>Presentación de PowerPoint</vt:lpstr>
      <vt:lpstr>3ra. Etapa: Estudio de factibilidad</vt:lpstr>
      <vt:lpstr>Evaluación técnica</vt:lpstr>
      <vt:lpstr>Evaluación económica</vt:lpstr>
      <vt:lpstr>Presentación de PowerPoint</vt:lpstr>
      <vt:lpstr>Evaluación ambiental </vt:lpstr>
      <vt:lpstr>Presentación de PowerPoint</vt:lpstr>
      <vt:lpstr>Seleccionar oportunidades factibles </vt:lpstr>
      <vt:lpstr>Alternativas de valoración de PML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14</cp:revision>
  <dcterms:created xsi:type="dcterms:W3CDTF">2024-11-18T13:23:11Z</dcterms:created>
  <dcterms:modified xsi:type="dcterms:W3CDTF">2025-11-28T14:23:29Z</dcterms:modified>
</cp:coreProperties>
</file>