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Override11.xml" ContentType="application/vnd.openxmlformats-officedocument.themeOverr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81" r:id="rId3"/>
    <p:sldId id="256" r:id="rId4"/>
    <p:sldId id="338" r:id="rId5"/>
    <p:sldId id="340" r:id="rId6"/>
    <p:sldId id="258" r:id="rId7"/>
    <p:sldId id="259" r:id="rId8"/>
    <p:sldId id="260" r:id="rId9"/>
    <p:sldId id="262" r:id="rId10"/>
    <p:sldId id="337" r:id="rId11"/>
    <p:sldId id="264" r:id="rId12"/>
    <p:sldId id="265" r:id="rId13"/>
    <p:sldId id="266" r:id="rId14"/>
    <p:sldId id="268" r:id="rId15"/>
    <p:sldId id="269" r:id="rId16"/>
    <p:sldId id="270" r:id="rId17"/>
    <p:sldId id="341" r:id="rId18"/>
    <p:sldId id="271" r:id="rId19"/>
    <p:sldId id="272" r:id="rId20"/>
    <p:sldId id="339" r:id="rId21"/>
    <p:sldId id="274" r:id="rId2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56"/>
    <p:restoredTop sz="95884"/>
  </p:normalViewPr>
  <p:slideViewPr>
    <p:cSldViewPr snapToGrid="0">
      <p:cViewPr varScale="1">
        <p:scale>
          <a:sx n="115" d="100"/>
          <a:sy n="115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58F121-D2E3-8C4B-B418-4A9C7BEB13DC}" type="doc">
      <dgm:prSet loTypeId="urn:microsoft.com/office/officeart/2005/8/layout/default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MX"/>
        </a:p>
      </dgm:t>
    </dgm:pt>
    <dgm:pt modelId="{281ACECE-9C68-8145-8CDD-A20E76492685}">
      <dgm:prSet phldrT="[Texto]"/>
      <dgm:spPr/>
      <dgm:t>
        <a:bodyPr/>
        <a:lstStyle/>
        <a:p>
          <a:r>
            <a:rPr lang="es-MX" dirty="0"/>
            <a:t>PRODUCCIÓN</a:t>
          </a:r>
        </a:p>
      </dgm:t>
    </dgm:pt>
    <dgm:pt modelId="{385893BC-E474-184A-BC1E-1AD95FFEF982}" type="parTrans" cxnId="{B6D0B7B3-3B50-3F42-93EE-25F1A399595E}">
      <dgm:prSet/>
      <dgm:spPr/>
      <dgm:t>
        <a:bodyPr/>
        <a:lstStyle/>
        <a:p>
          <a:endParaRPr lang="es-MX"/>
        </a:p>
      </dgm:t>
    </dgm:pt>
    <dgm:pt modelId="{7C90528F-1B8F-DB4B-A53D-1E6693D9659F}" type="sibTrans" cxnId="{B6D0B7B3-3B50-3F42-93EE-25F1A399595E}">
      <dgm:prSet/>
      <dgm:spPr/>
      <dgm:t>
        <a:bodyPr/>
        <a:lstStyle/>
        <a:p>
          <a:endParaRPr lang="es-MX"/>
        </a:p>
      </dgm:t>
    </dgm:pt>
    <dgm:pt modelId="{49D2135F-0418-9446-A788-A571B25F4BF1}">
      <dgm:prSet phldrT="[Texto]"/>
      <dgm:spPr/>
      <dgm:t>
        <a:bodyPr/>
        <a:lstStyle/>
        <a:p>
          <a:r>
            <a:rPr lang="es-MX" dirty="0"/>
            <a:t>PRODUCTO</a:t>
          </a:r>
        </a:p>
      </dgm:t>
    </dgm:pt>
    <dgm:pt modelId="{1A976AA7-BDED-894B-A1C4-149FC4741D2D}" type="parTrans" cxnId="{BEB02176-D178-B949-B0BD-4FCAFCEA0BB5}">
      <dgm:prSet/>
      <dgm:spPr/>
      <dgm:t>
        <a:bodyPr/>
        <a:lstStyle/>
        <a:p>
          <a:endParaRPr lang="es-MX"/>
        </a:p>
      </dgm:t>
    </dgm:pt>
    <dgm:pt modelId="{21897261-66F9-6C40-9619-38435AF419AA}" type="sibTrans" cxnId="{BEB02176-D178-B949-B0BD-4FCAFCEA0BB5}">
      <dgm:prSet/>
      <dgm:spPr/>
      <dgm:t>
        <a:bodyPr/>
        <a:lstStyle/>
        <a:p>
          <a:endParaRPr lang="es-MX"/>
        </a:p>
      </dgm:t>
    </dgm:pt>
    <dgm:pt modelId="{B4197093-7668-B249-855C-FBDADC528180}">
      <dgm:prSet phldrT="[Texto]"/>
      <dgm:spPr/>
      <dgm:t>
        <a:bodyPr/>
        <a:lstStyle/>
        <a:p>
          <a:r>
            <a:rPr lang="es-MX" dirty="0"/>
            <a:t>SERVICIOS</a:t>
          </a:r>
        </a:p>
      </dgm:t>
    </dgm:pt>
    <dgm:pt modelId="{C417E129-961F-5C4E-A5EE-EEAA3298EA68}" type="parTrans" cxnId="{3B07506E-4ED7-5045-96FB-49F7C0268C3D}">
      <dgm:prSet/>
      <dgm:spPr/>
      <dgm:t>
        <a:bodyPr/>
        <a:lstStyle/>
        <a:p>
          <a:endParaRPr lang="es-MX"/>
        </a:p>
      </dgm:t>
    </dgm:pt>
    <dgm:pt modelId="{25071691-5617-AE4C-B593-1562B7658EC8}" type="sibTrans" cxnId="{3B07506E-4ED7-5045-96FB-49F7C0268C3D}">
      <dgm:prSet/>
      <dgm:spPr/>
      <dgm:t>
        <a:bodyPr/>
        <a:lstStyle/>
        <a:p>
          <a:endParaRPr lang="es-MX"/>
        </a:p>
      </dgm:t>
    </dgm:pt>
    <dgm:pt modelId="{15E81B76-797B-204D-B777-87E7BE92703C}" type="pres">
      <dgm:prSet presAssocID="{E458F121-D2E3-8C4B-B418-4A9C7BEB13DC}" presName="diagram" presStyleCnt="0">
        <dgm:presLayoutVars>
          <dgm:dir/>
          <dgm:resizeHandles val="exact"/>
        </dgm:presLayoutVars>
      </dgm:prSet>
      <dgm:spPr/>
    </dgm:pt>
    <dgm:pt modelId="{B62AE31E-30E4-3E4A-BA93-B3335CB8511C}" type="pres">
      <dgm:prSet presAssocID="{281ACECE-9C68-8145-8CDD-A20E76492685}" presName="node" presStyleLbl="node1" presStyleIdx="0" presStyleCnt="3">
        <dgm:presLayoutVars>
          <dgm:bulletEnabled val="1"/>
        </dgm:presLayoutVars>
      </dgm:prSet>
      <dgm:spPr/>
    </dgm:pt>
    <dgm:pt modelId="{1233FC0D-507C-0A44-B8C9-DABD0BC3903E}" type="pres">
      <dgm:prSet presAssocID="{7C90528F-1B8F-DB4B-A53D-1E6693D9659F}" presName="sibTrans" presStyleCnt="0"/>
      <dgm:spPr/>
    </dgm:pt>
    <dgm:pt modelId="{D2F92BEE-55E7-1C4B-946C-DF26850ECA2F}" type="pres">
      <dgm:prSet presAssocID="{49D2135F-0418-9446-A788-A571B25F4BF1}" presName="node" presStyleLbl="node1" presStyleIdx="1" presStyleCnt="3">
        <dgm:presLayoutVars>
          <dgm:bulletEnabled val="1"/>
        </dgm:presLayoutVars>
      </dgm:prSet>
      <dgm:spPr/>
    </dgm:pt>
    <dgm:pt modelId="{19DAB4F4-D814-DE49-84B6-62D9D64478CA}" type="pres">
      <dgm:prSet presAssocID="{21897261-66F9-6C40-9619-38435AF419AA}" presName="sibTrans" presStyleCnt="0"/>
      <dgm:spPr/>
    </dgm:pt>
    <dgm:pt modelId="{3C57D3C0-F601-D844-859A-3C44A87F3051}" type="pres">
      <dgm:prSet presAssocID="{B4197093-7668-B249-855C-FBDADC528180}" presName="node" presStyleLbl="node1" presStyleIdx="2" presStyleCnt="3">
        <dgm:presLayoutVars>
          <dgm:bulletEnabled val="1"/>
        </dgm:presLayoutVars>
      </dgm:prSet>
      <dgm:spPr/>
    </dgm:pt>
  </dgm:ptLst>
  <dgm:cxnLst>
    <dgm:cxn modelId="{E4371731-E0F4-FF44-AC2F-348F2FA9B242}" type="presOf" srcId="{49D2135F-0418-9446-A788-A571B25F4BF1}" destId="{D2F92BEE-55E7-1C4B-946C-DF26850ECA2F}" srcOrd="0" destOrd="0" presId="urn:microsoft.com/office/officeart/2005/8/layout/default"/>
    <dgm:cxn modelId="{2713CF37-A533-4B4B-9B74-CD55881EB403}" type="presOf" srcId="{281ACECE-9C68-8145-8CDD-A20E76492685}" destId="{B62AE31E-30E4-3E4A-BA93-B3335CB8511C}" srcOrd="0" destOrd="0" presId="urn:microsoft.com/office/officeart/2005/8/layout/default"/>
    <dgm:cxn modelId="{3B07506E-4ED7-5045-96FB-49F7C0268C3D}" srcId="{E458F121-D2E3-8C4B-B418-4A9C7BEB13DC}" destId="{B4197093-7668-B249-855C-FBDADC528180}" srcOrd="2" destOrd="0" parTransId="{C417E129-961F-5C4E-A5EE-EEAA3298EA68}" sibTransId="{25071691-5617-AE4C-B593-1562B7658EC8}"/>
    <dgm:cxn modelId="{BEB02176-D178-B949-B0BD-4FCAFCEA0BB5}" srcId="{E458F121-D2E3-8C4B-B418-4A9C7BEB13DC}" destId="{49D2135F-0418-9446-A788-A571B25F4BF1}" srcOrd="1" destOrd="0" parTransId="{1A976AA7-BDED-894B-A1C4-149FC4741D2D}" sibTransId="{21897261-66F9-6C40-9619-38435AF419AA}"/>
    <dgm:cxn modelId="{88E1ABAB-62E5-B242-8976-5DAF55A449FA}" type="presOf" srcId="{E458F121-D2E3-8C4B-B418-4A9C7BEB13DC}" destId="{15E81B76-797B-204D-B777-87E7BE92703C}" srcOrd="0" destOrd="0" presId="urn:microsoft.com/office/officeart/2005/8/layout/default"/>
    <dgm:cxn modelId="{B6D0B7B3-3B50-3F42-93EE-25F1A399595E}" srcId="{E458F121-D2E3-8C4B-B418-4A9C7BEB13DC}" destId="{281ACECE-9C68-8145-8CDD-A20E76492685}" srcOrd="0" destOrd="0" parTransId="{385893BC-E474-184A-BC1E-1AD95FFEF982}" sibTransId="{7C90528F-1B8F-DB4B-A53D-1E6693D9659F}"/>
    <dgm:cxn modelId="{C08E93CB-74BC-B74A-819B-582E5BBEC42D}" type="presOf" srcId="{B4197093-7668-B249-855C-FBDADC528180}" destId="{3C57D3C0-F601-D844-859A-3C44A87F3051}" srcOrd="0" destOrd="0" presId="urn:microsoft.com/office/officeart/2005/8/layout/default"/>
    <dgm:cxn modelId="{09F64586-A064-A345-B669-20F3FFE0F6D7}" type="presParOf" srcId="{15E81B76-797B-204D-B777-87E7BE92703C}" destId="{B62AE31E-30E4-3E4A-BA93-B3335CB8511C}" srcOrd="0" destOrd="0" presId="urn:microsoft.com/office/officeart/2005/8/layout/default"/>
    <dgm:cxn modelId="{00B3F7DC-2DF1-7249-B9E3-373FA7DA0D51}" type="presParOf" srcId="{15E81B76-797B-204D-B777-87E7BE92703C}" destId="{1233FC0D-507C-0A44-B8C9-DABD0BC3903E}" srcOrd="1" destOrd="0" presId="urn:microsoft.com/office/officeart/2005/8/layout/default"/>
    <dgm:cxn modelId="{A1BC1259-DCC5-234B-B4CF-682E34FA075B}" type="presParOf" srcId="{15E81B76-797B-204D-B777-87E7BE92703C}" destId="{D2F92BEE-55E7-1C4B-946C-DF26850ECA2F}" srcOrd="2" destOrd="0" presId="urn:microsoft.com/office/officeart/2005/8/layout/default"/>
    <dgm:cxn modelId="{E034E568-19BA-C44F-B2CF-CDF3C3D89141}" type="presParOf" srcId="{15E81B76-797B-204D-B777-87E7BE92703C}" destId="{19DAB4F4-D814-DE49-84B6-62D9D64478CA}" srcOrd="3" destOrd="0" presId="urn:microsoft.com/office/officeart/2005/8/layout/default"/>
    <dgm:cxn modelId="{F1DE75BF-F3DA-514D-9573-D960B9DF0703}" type="presParOf" srcId="{15E81B76-797B-204D-B777-87E7BE92703C}" destId="{3C57D3C0-F601-D844-859A-3C44A87F305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A42118-5B0E-1D43-B421-33790EC8F9C2}" type="doc">
      <dgm:prSet loTypeId="urn:microsoft.com/office/officeart/2005/8/layout/arrow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FCAC03A-94B4-EC48-A284-14AF46AD2D1B}">
      <dgm:prSet/>
      <dgm:spPr/>
      <dgm:t>
        <a:bodyPr/>
        <a:lstStyle/>
        <a:p>
          <a:pPr>
            <a:buNone/>
          </a:pPr>
          <a:r>
            <a:rPr lang="es-AR"/>
            <a:t>Las tecnologías ambientales convencionales se enfocan en </a:t>
          </a:r>
          <a:r>
            <a:rPr lang="es-AR" i="1">
              <a:solidFill>
                <a:srgbClr val="FF0000"/>
              </a:solidFill>
            </a:rPr>
            <a:t>dar soluciones a los impactos al final del proceso</a:t>
          </a:r>
          <a:r>
            <a:rPr lang="es-AR"/>
            <a:t> de producción “al final del tubo’ “End of the pipe” </a:t>
          </a:r>
          <a:endParaRPr lang="es-AR" dirty="0"/>
        </a:p>
      </dgm:t>
    </dgm:pt>
    <dgm:pt modelId="{231EABC1-D6E5-BF4A-81FF-7E5FEADA095D}" type="parTrans" cxnId="{BE8EA8A4-8DD7-A840-8E23-A9EFFAAAE5F3}">
      <dgm:prSet/>
      <dgm:spPr/>
      <dgm:t>
        <a:bodyPr/>
        <a:lstStyle/>
        <a:p>
          <a:endParaRPr lang="es-MX"/>
        </a:p>
      </dgm:t>
    </dgm:pt>
    <dgm:pt modelId="{5CA5CCED-2BE9-6A4D-A987-2D5E96448C52}" type="sibTrans" cxnId="{BE8EA8A4-8DD7-A840-8E23-A9EFFAAAE5F3}">
      <dgm:prSet/>
      <dgm:spPr/>
      <dgm:t>
        <a:bodyPr/>
        <a:lstStyle/>
        <a:p>
          <a:endParaRPr lang="es-MX"/>
        </a:p>
      </dgm:t>
    </dgm:pt>
    <dgm:pt modelId="{F64FFCDF-9A49-804A-83E1-270DF49C05C7}">
      <dgm:prSet/>
      <dgm:spPr/>
      <dgm:t>
        <a:bodyPr/>
        <a:lstStyle/>
        <a:p>
          <a:r>
            <a:rPr lang="es-AR" dirty="0"/>
            <a:t>La PML tiene como propósito integrar los objetivos ambientales </a:t>
          </a:r>
          <a:r>
            <a:rPr lang="es-AR" i="1" dirty="0">
              <a:solidFill>
                <a:srgbClr val="FF0000"/>
              </a:solidFill>
            </a:rPr>
            <a:t>en el proceso </a:t>
          </a:r>
          <a:r>
            <a:rPr lang="es-AR" dirty="0"/>
            <a:t>de producción para reducir desechos y emisiones en lo que se refiere a la cantidad y toxicidad y así reducir los costos. </a:t>
          </a:r>
          <a:endParaRPr lang="es-MX" dirty="0"/>
        </a:p>
      </dgm:t>
    </dgm:pt>
    <dgm:pt modelId="{FEB162C1-EC10-9C4B-A697-26E91EB6606F}" type="parTrans" cxnId="{21D52D9C-A39A-2043-8205-45F0E79FFF66}">
      <dgm:prSet/>
      <dgm:spPr/>
      <dgm:t>
        <a:bodyPr/>
        <a:lstStyle/>
        <a:p>
          <a:endParaRPr lang="es-MX"/>
        </a:p>
      </dgm:t>
    </dgm:pt>
    <dgm:pt modelId="{B911B1FB-AAF3-1144-8495-BDC9393A06F7}" type="sibTrans" cxnId="{21D52D9C-A39A-2043-8205-45F0E79FFF66}">
      <dgm:prSet/>
      <dgm:spPr/>
      <dgm:t>
        <a:bodyPr/>
        <a:lstStyle/>
        <a:p>
          <a:endParaRPr lang="es-MX"/>
        </a:p>
      </dgm:t>
    </dgm:pt>
    <dgm:pt modelId="{72FF72FA-9914-024F-B2BF-60B0AF576081}" type="pres">
      <dgm:prSet presAssocID="{BAA42118-5B0E-1D43-B421-33790EC8F9C2}" presName="diagram" presStyleCnt="0">
        <dgm:presLayoutVars>
          <dgm:dir/>
          <dgm:resizeHandles val="exact"/>
        </dgm:presLayoutVars>
      </dgm:prSet>
      <dgm:spPr/>
    </dgm:pt>
    <dgm:pt modelId="{790B0839-AAC0-EE43-9CAA-18DABE5E128D}" type="pres">
      <dgm:prSet presAssocID="{CFCAC03A-94B4-EC48-A284-14AF46AD2D1B}" presName="arrow" presStyleLbl="node1" presStyleIdx="0" presStyleCnt="2">
        <dgm:presLayoutVars>
          <dgm:bulletEnabled val="1"/>
        </dgm:presLayoutVars>
      </dgm:prSet>
      <dgm:spPr/>
    </dgm:pt>
    <dgm:pt modelId="{6B9A2089-419E-1647-97C5-BBF218818C72}" type="pres">
      <dgm:prSet presAssocID="{F64FFCDF-9A49-804A-83E1-270DF49C05C7}" presName="arrow" presStyleLbl="node1" presStyleIdx="1" presStyleCnt="2" custScaleY="100014">
        <dgm:presLayoutVars>
          <dgm:bulletEnabled val="1"/>
        </dgm:presLayoutVars>
      </dgm:prSet>
      <dgm:spPr/>
    </dgm:pt>
  </dgm:ptLst>
  <dgm:cxnLst>
    <dgm:cxn modelId="{E5E46F4B-4E7B-0946-87DE-5679F9717F83}" type="presOf" srcId="{F64FFCDF-9A49-804A-83E1-270DF49C05C7}" destId="{6B9A2089-419E-1647-97C5-BBF218818C72}" srcOrd="0" destOrd="0" presId="urn:microsoft.com/office/officeart/2005/8/layout/arrow5"/>
    <dgm:cxn modelId="{3460DC62-211F-FF40-89A9-E56946CC8D14}" type="presOf" srcId="{CFCAC03A-94B4-EC48-A284-14AF46AD2D1B}" destId="{790B0839-AAC0-EE43-9CAA-18DABE5E128D}" srcOrd="0" destOrd="0" presId="urn:microsoft.com/office/officeart/2005/8/layout/arrow5"/>
    <dgm:cxn modelId="{7DEF0F6D-6369-3345-93A4-9229DBAD5987}" type="presOf" srcId="{BAA42118-5B0E-1D43-B421-33790EC8F9C2}" destId="{72FF72FA-9914-024F-B2BF-60B0AF576081}" srcOrd="0" destOrd="0" presId="urn:microsoft.com/office/officeart/2005/8/layout/arrow5"/>
    <dgm:cxn modelId="{21D52D9C-A39A-2043-8205-45F0E79FFF66}" srcId="{BAA42118-5B0E-1D43-B421-33790EC8F9C2}" destId="{F64FFCDF-9A49-804A-83E1-270DF49C05C7}" srcOrd="1" destOrd="0" parTransId="{FEB162C1-EC10-9C4B-A697-26E91EB6606F}" sibTransId="{B911B1FB-AAF3-1144-8495-BDC9393A06F7}"/>
    <dgm:cxn modelId="{BE8EA8A4-8DD7-A840-8E23-A9EFFAAAE5F3}" srcId="{BAA42118-5B0E-1D43-B421-33790EC8F9C2}" destId="{CFCAC03A-94B4-EC48-A284-14AF46AD2D1B}" srcOrd="0" destOrd="0" parTransId="{231EABC1-D6E5-BF4A-81FF-7E5FEADA095D}" sibTransId="{5CA5CCED-2BE9-6A4D-A987-2D5E96448C52}"/>
    <dgm:cxn modelId="{6F16EA09-5D56-7341-8439-097470F74C36}" type="presParOf" srcId="{72FF72FA-9914-024F-B2BF-60B0AF576081}" destId="{790B0839-AAC0-EE43-9CAA-18DABE5E128D}" srcOrd="0" destOrd="0" presId="urn:microsoft.com/office/officeart/2005/8/layout/arrow5"/>
    <dgm:cxn modelId="{4FFA5ED3-7C09-0F42-86C6-A0A4E5635401}" type="presParOf" srcId="{72FF72FA-9914-024F-B2BF-60B0AF576081}" destId="{6B9A2089-419E-1647-97C5-BBF218818C72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1D5860F-9D2B-7A4B-8ADC-6B6782A2F103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MX"/>
        </a:p>
      </dgm:t>
    </dgm:pt>
    <dgm:pt modelId="{FB8F4C78-6214-E54C-A14D-618A9728CFC8}">
      <dgm:prSet/>
      <dgm:spPr/>
      <dgm:t>
        <a:bodyPr/>
        <a:lstStyle/>
        <a:p>
          <a:r>
            <a:rPr lang="es-AR"/>
            <a:t>Mientras la gestión convencional de desechos pregunta:   </a:t>
          </a:r>
        </a:p>
      </dgm:t>
    </dgm:pt>
    <dgm:pt modelId="{A5D8911D-FF5E-2345-AEBA-7E235E9B34E3}" type="parTrans" cxnId="{A6DE0F04-8470-514C-B4C9-87A0A7D21694}">
      <dgm:prSet/>
      <dgm:spPr/>
      <dgm:t>
        <a:bodyPr/>
        <a:lstStyle/>
        <a:p>
          <a:endParaRPr lang="es-MX"/>
        </a:p>
      </dgm:t>
    </dgm:pt>
    <dgm:pt modelId="{8985BAD1-8E69-5C40-8972-BE3374753FD4}" type="sibTrans" cxnId="{A6DE0F04-8470-514C-B4C9-87A0A7D21694}">
      <dgm:prSet/>
      <dgm:spPr/>
      <dgm:t>
        <a:bodyPr/>
        <a:lstStyle/>
        <a:p>
          <a:endParaRPr lang="es-MX"/>
        </a:p>
      </dgm:t>
    </dgm:pt>
    <dgm:pt modelId="{B95102C5-2E6A-B843-86CB-08BCF98F7ADB}">
      <dgm:prSet/>
      <dgm:spPr/>
      <dgm:t>
        <a:bodyPr/>
        <a:lstStyle/>
        <a:p>
          <a:r>
            <a:rPr lang="es-AR"/>
            <a:t>¿Qué podemos hacer con los desechos y emisiones existentes?  </a:t>
          </a:r>
        </a:p>
      </dgm:t>
    </dgm:pt>
    <dgm:pt modelId="{89AE097B-6538-8D40-85D2-2C2A8250A2EC}" type="parTrans" cxnId="{92479DD4-0F92-0948-BAD1-FA63FA5E0BBB}">
      <dgm:prSet/>
      <dgm:spPr/>
      <dgm:t>
        <a:bodyPr/>
        <a:lstStyle/>
        <a:p>
          <a:endParaRPr lang="es-MX"/>
        </a:p>
      </dgm:t>
    </dgm:pt>
    <dgm:pt modelId="{FD1AE4CB-A6F6-3C47-AD76-86F82CDD9343}" type="sibTrans" cxnId="{92479DD4-0F92-0948-BAD1-FA63FA5E0BBB}">
      <dgm:prSet/>
      <dgm:spPr/>
      <dgm:t>
        <a:bodyPr/>
        <a:lstStyle/>
        <a:p>
          <a:endParaRPr lang="es-MX"/>
        </a:p>
      </dgm:t>
    </dgm:pt>
    <dgm:pt modelId="{E1B77E3D-4028-BB45-81C9-4A0635E4F332}">
      <dgm:prSet/>
      <dgm:spPr/>
      <dgm:t>
        <a:bodyPr/>
        <a:lstStyle/>
        <a:p>
          <a:r>
            <a:rPr lang="es-AR"/>
            <a:t>La PML, la protección ambiental integrada a la producción pregunta:  </a:t>
          </a:r>
        </a:p>
      </dgm:t>
    </dgm:pt>
    <dgm:pt modelId="{4FE2509A-6A3F-C745-8597-C373BF8C6A7B}" type="parTrans" cxnId="{0BD0E195-B3AE-954A-B06D-18CCF3536F65}">
      <dgm:prSet/>
      <dgm:spPr/>
      <dgm:t>
        <a:bodyPr/>
        <a:lstStyle/>
        <a:p>
          <a:endParaRPr lang="es-MX"/>
        </a:p>
      </dgm:t>
    </dgm:pt>
    <dgm:pt modelId="{BD357391-93FC-824E-9648-2FB4ACDD1115}" type="sibTrans" cxnId="{0BD0E195-B3AE-954A-B06D-18CCF3536F65}">
      <dgm:prSet/>
      <dgm:spPr/>
      <dgm:t>
        <a:bodyPr/>
        <a:lstStyle/>
        <a:p>
          <a:endParaRPr lang="es-MX"/>
        </a:p>
      </dgm:t>
    </dgm:pt>
    <dgm:pt modelId="{0D899978-267F-B943-94B6-09973CE3AC1C}">
      <dgm:prSet/>
      <dgm:spPr/>
      <dgm:t>
        <a:bodyPr/>
        <a:lstStyle/>
        <a:p>
          <a:r>
            <a:rPr lang="es-AR" dirty="0"/>
            <a:t>¿De dónde provienen nuestros desechos y emisiones?   </a:t>
          </a:r>
        </a:p>
      </dgm:t>
    </dgm:pt>
    <dgm:pt modelId="{18D12B73-6282-8944-9504-6EFFFCF0ECF9}" type="parTrans" cxnId="{E59175AC-AAF9-1D49-BE36-C215547F4565}">
      <dgm:prSet/>
      <dgm:spPr/>
      <dgm:t>
        <a:bodyPr/>
        <a:lstStyle/>
        <a:p>
          <a:endParaRPr lang="es-MX"/>
        </a:p>
      </dgm:t>
    </dgm:pt>
    <dgm:pt modelId="{7676A713-E81E-D645-9374-33AC1F1FF556}" type="sibTrans" cxnId="{E59175AC-AAF9-1D49-BE36-C215547F4565}">
      <dgm:prSet/>
      <dgm:spPr/>
      <dgm:t>
        <a:bodyPr/>
        <a:lstStyle/>
        <a:p>
          <a:endParaRPr lang="es-MX"/>
        </a:p>
      </dgm:t>
    </dgm:pt>
    <dgm:pt modelId="{1907D6CD-2B44-6446-A8E5-70CE3A4F3FF5}">
      <dgm:prSet/>
      <dgm:spPr/>
      <dgm:t>
        <a:bodyPr/>
        <a:lstStyle/>
        <a:p>
          <a:r>
            <a:rPr lang="es-AR"/>
            <a:t>¿Por qué se han convertido en desechos? </a:t>
          </a:r>
        </a:p>
      </dgm:t>
    </dgm:pt>
    <dgm:pt modelId="{D6C02449-3EFD-ED45-A231-40F6224368F2}" type="parTrans" cxnId="{E9E1E1B7-6C91-1E45-85D3-A8DEF12AD3FF}">
      <dgm:prSet/>
      <dgm:spPr/>
      <dgm:t>
        <a:bodyPr/>
        <a:lstStyle/>
        <a:p>
          <a:endParaRPr lang="es-MX"/>
        </a:p>
      </dgm:t>
    </dgm:pt>
    <dgm:pt modelId="{EA8169E0-E5E2-DC40-9B2A-7006586457AC}" type="sibTrans" cxnId="{E9E1E1B7-6C91-1E45-85D3-A8DEF12AD3FF}">
      <dgm:prSet/>
      <dgm:spPr/>
      <dgm:t>
        <a:bodyPr/>
        <a:lstStyle/>
        <a:p>
          <a:endParaRPr lang="es-MX"/>
        </a:p>
      </dgm:t>
    </dgm:pt>
    <dgm:pt modelId="{F5B92D9C-5EEC-F047-8227-D9CD81E51C87}" type="pres">
      <dgm:prSet presAssocID="{81D5860F-9D2B-7A4B-8ADC-6B6782A2F103}" presName="Name0" presStyleCnt="0">
        <dgm:presLayoutVars>
          <dgm:dir/>
          <dgm:animLvl val="lvl"/>
          <dgm:resizeHandles val="exact"/>
        </dgm:presLayoutVars>
      </dgm:prSet>
      <dgm:spPr/>
    </dgm:pt>
    <dgm:pt modelId="{FFC1006A-C81F-E041-8E9A-0638B6B35C0B}" type="pres">
      <dgm:prSet presAssocID="{81D5860F-9D2B-7A4B-8ADC-6B6782A2F103}" presName="tSp" presStyleCnt="0"/>
      <dgm:spPr/>
    </dgm:pt>
    <dgm:pt modelId="{EE17FEBC-7EB8-3344-8AC4-0906ED01AB1C}" type="pres">
      <dgm:prSet presAssocID="{81D5860F-9D2B-7A4B-8ADC-6B6782A2F103}" presName="bSp" presStyleCnt="0"/>
      <dgm:spPr/>
    </dgm:pt>
    <dgm:pt modelId="{8BD60D6F-C470-8548-BDDA-F854134031DA}" type="pres">
      <dgm:prSet presAssocID="{81D5860F-9D2B-7A4B-8ADC-6B6782A2F103}" presName="process" presStyleCnt="0"/>
      <dgm:spPr/>
    </dgm:pt>
    <dgm:pt modelId="{2C237AEF-B55D-E648-9123-3781EB072DAA}" type="pres">
      <dgm:prSet presAssocID="{FB8F4C78-6214-E54C-A14D-618A9728CFC8}" presName="composite1" presStyleCnt="0"/>
      <dgm:spPr/>
    </dgm:pt>
    <dgm:pt modelId="{20A66A1F-FD92-1A4B-9222-5C81BEEA3943}" type="pres">
      <dgm:prSet presAssocID="{FB8F4C78-6214-E54C-A14D-618A9728CFC8}" presName="dummyNode1" presStyleLbl="node1" presStyleIdx="0" presStyleCnt="2"/>
      <dgm:spPr/>
    </dgm:pt>
    <dgm:pt modelId="{F3FE61C1-9566-7145-A876-3CDE251483C4}" type="pres">
      <dgm:prSet presAssocID="{FB8F4C78-6214-E54C-A14D-618A9728CFC8}" presName="childNode1" presStyleLbl="bgAcc1" presStyleIdx="0" presStyleCnt="2">
        <dgm:presLayoutVars>
          <dgm:bulletEnabled val="1"/>
        </dgm:presLayoutVars>
      </dgm:prSet>
      <dgm:spPr/>
    </dgm:pt>
    <dgm:pt modelId="{E72DC2F4-9C05-1142-A7D6-02AD17B7B709}" type="pres">
      <dgm:prSet presAssocID="{FB8F4C78-6214-E54C-A14D-618A9728CFC8}" presName="childNode1tx" presStyleLbl="bgAcc1" presStyleIdx="0" presStyleCnt="2">
        <dgm:presLayoutVars>
          <dgm:bulletEnabled val="1"/>
        </dgm:presLayoutVars>
      </dgm:prSet>
      <dgm:spPr/>
    </dgm:pt>
    <dgm:pt modelId="{F6DAA0C1-2132-8D4A-B8E0-31A19DC208D5}" type="pres">
      <dgm:prSet presAssocID="{FB8F4C78-6214-E54C-A14D-618A9728CFC8}" presName="parentNode1" presStyleLbl="node1" presStyleIdx="0" presStyleCnt="2">
        <dgm:presLayoutVars>
          <dgm:chMax val="1"/>
          <dgm:bulletEnabled val="1"/>
        </dgm:presLayoutVars>
      </dgm:prSet>
      <dgm:spPr/>
    </dgm:pt>
    <dgm:pt modelId="{2601EFA3-C9DB-9642-88FF-981135FF9B10}" type="pres">
      <dgm:prSet presAssocID="{FB8F4C78-6214-E54C-A14D-618A9728CFC8}" presName="connSite1" presStyleCnt="0"/>
      <dgm:spPr/>
    </dgm:pt>
    <dgm:pt modelId="{F79EC0FD-C398-ED4B-A825-4BA09649B262}" type="pres">
      <dgm:prSet presAssocID="{8985BAD1-8E69-5C40-8972-BE3374753FD4}" presName="Name9" presStyleLbl="sibTrans2D1" presStyleIdx="0" presStyleCnt="1"/>
      <dgm:spPr/>
    </dgm:pt>
    <dgm:pt modelId="{3CD5F1B5-C6A1-C648-B519-AE692BF1D8F1}" type="pres">
      <dgm:prSet presAssocID="{E1B77E3D-4028-BB45-81C9-4A0635E4F332}" presName="composite2" presStyleCnt="0"/>
      <dgm:spPr/>
    </dgm:pt>
    <dgm:pt modelId="{2FBE0953-233A-724D-B3B6-411AB9E393ED}" type="pres">
      <dgm:prSet presAssocID="{E1B77E3D-4028-BB45-81C9-4A0635E4F332}" presName="dummyNode2" presStyleLbl="node1" presStyleIdx="0" presStyleCnt="2"/>
      <dgm:spPr/>
    </dgm:pt>
    <dgm:pt modelId="{42C0CB7D-986B-F645-85A3-385BFBC85C05}" type="pres">
      <dgm:prSet presAssocID="{E1B77E3D-4028-BB45-81C9-4A0635E4F332}" presName="childNode2" presStyleLbl="bgAcc1" presStyleIdx="1" presStyleCnt="2">
        <dgm:presLayoutVars>
          <dgm:bulletEnabled val="1"/>
        </dgm:presLayoutVars>
      </dgm:prSet>
      <dgm:spPr/>
    </dgm:pt>
    <dgm:pt modelId="{461BDE37-05A1-8A43-AD23-432BADF39828}" type="pres">
      <dgm:prSet presAssocID="{E1B77E3D-4028-BB45-81C9-4A0635E4F332}" presName="childNode2tx" presStyleLbl="bgAcc1" presStyleIdx="1" presStyleCnt="2">
        <dgm:presLayoutVars>
          <dgm:bulletEnabled val="1"/>
        </dgm:presLayoutVars>
      </dgm:prSet>
      <dgm:spPr/>
    </dgm:pt>
    <dgm:pt modelId="{04B90FE5-2FBF-B040-B06F-81B8CEA8EE76}" type="pres">
      <dgm:prSet presAssocID="{E1B77E3D-4028-BB45-81C9-4A0635E4F332}" presName="parentNode2" presStyleLbl="node1" presStyleIdx="1" presStyleCnt="2">
        <dgm:presLayoutVars>
          <dgm:chMax val="0"/>
          <dgm:bulletEnabled val="1"/>
        </dgm:presLayoutVars>
      </dgm:prSet>
      <dgm:spPr/>
    </dgm:pt>
    <dgm:pt modelId="{6C1CD3E8-C10C-B846-B329-8E3EBD5047D6}" type="pres">
      <dgm:prSet presAssocID="{E1B77E3D-4028-BB45-81C9-4A0635E4F332}" presName="connSite2" presStyleCnt="0"/>
      <dgm:spPr/>
    </dgm:pt>
  </dgm:ptLst>
  <dgm:cxnLst>
    <dgm:cxn modelId="{A6DE0F04-8470-514C-B4C9-87A0A7D21694}" srcId="{81D5860F-9D2B-7A4B-8ADC-6B6782A2F103}" destId="{FB8F4C78-6214-E54C-A14D-618A9728CFC8}" srcOrd="0" destOrd="0" parTransId="{A5D8911D-FF5E-2345-AEBA-7E235E9B34E3}" sibTransId="{8985BAD1-8E69-5C40-8972-BE3374753FD4}"/>
    <dgm:cxn modelId="{C2F7081A-A4CC-D74A-B8D1-AF8376599BCD}" type="presOf" srcId="{B95102C5-2E6A-B843-86CB-08BCF98F7ADB}" destId="{E72DC2F4-9C05-1142-A7D6-02AD17B7B709}" srcOrd="1" destOrd="0" presId="urn:microsoft.com/office/officeart/2005/8/layout/hProcess4"/>
    <dgm:cxn modelId="{2019D986-C191-9F4B-9FAF-9CB3B93B491A}" type="presOf" srcId="{0D899978-267F-B943-94B6-09973CE3AC1C}" destId="{42C0CB7D-986B-F645-85A3-385BFBC85C05}" srcOrd="0" destOrd="0" presId="urn:microsoft.com/office/officeart/2005/8/layout/hProcess4"/>
    <dgm:cxn modelId="{FD9BF289-BA1F-8D44-9A39-6AF17A68AE77}" type="presOf" srcId="{81D5860F-9D2B-7A4B-8ADC-6B6782A2F103}" destId="{F5B92D9C-5EEC-F047-8227-D9CD81E51C87}" srcOrd="0" destOrd="0" presId="urn:microsoft.com/office/officeart/2005/8/layout/hProcess4"/>
    <dgm:cxn modelId="{63E1FF92-57E3-F24B-9A70-EC39981E19DE}" type="presOf" srcId="{E1B77E3D-4028-BB45-81C9-4A0635E4F332}" destId="{04B90FE5-2FBF-B040-B06F-81B8CEA8EE76}" srcOrd="0" destOrd="0" presId="urn:microsoft.com/office/officeart/2005/8/layout/hProcess4"/>
    <dgm:cxn modelId="{0BD0E195-B3AE-954A-B06D-18CCF3536F65}" srcId="{81D5860F-9D2B-7A4B-8ADC-6B6782A2F103}" destId="{E1B77E3D-4028-BB45-81C9-4A0635E4F332}" srcOrd="1" destOrd="0" parTransId="{4FE2509A-6A3F-C745-8597-C373BF8C6A7B}" sibTransId="{BD357391-93FC-824E-9648-2FB4ACDD1115}"/>
    <dgm:cxn modelId="{E59175AC-AAF9-1D49-BE36-C215547F4565}" srcId="{E1B77E3D-4028-BB45-81C9-4A0635E4F332}" destId="{0D899978-267F-B943-94B6-09973CE3AC1C}" srcOrd="0" destOrd="0" parTransId="{18D12B73-6282-8944-9504-6EFFFCF0ECF9}" sibTransId="{7676A713-E81E-D645-9374-33AC1F1FF556}"/>
    <dgm:cxn modelId="{6715D8B0-7127-DD42-AAFC-9A5CC188D195}" type="presOf" srcId="{0D899978-267F-B943-94B6-09973CE3AC1C}" destId="{461BDE37-05A1-8A43-AD23-432BADF39828}" srcOrd="1" destOrd="0" presId="urn:microsoft.com/office/officeart/2005/8/layout/hProcess4"/>
    <dgm:cxn modelId="{5A804BB7-49E9-B34F-9425-183D91630D2C}" type="presOf" srcId="{8985BAD1-8E69-5C40-8972-BE3374753FD4}" destId="{F79EC0FD-C398-ED4B-A825-4BA09649B262}" srcOrd="0" destOrd="0" presId="urn:microsoft.com/office/officeart/2005/8/layout/hProcess4"/>
    <dgm:cxn modelId="{E9E1E1B7-6C91-1E45-85D3-A8DEF12AD3FF}" srcId="{E1B77E3D-4028-BB45-81C9-4A0635E4F332}" destId="{1907D6CD-2B44-6446-A8E5-70CE3A4F3FF5}" srcOrd="1" destOrd="0" parTransId="{D6C02449-3EFD-ED45-A231-40F6224368F2}" sibTransId="{EA8169E0-E5E2-DC40-9B2A-7006586457AC}"/>
    <dgm:cxn modelId="{92479DD4-0F92-0948-BAD1-FA63FA5E0BBB}" srcId="{FB8F4C78-6214-E54C-A14D-618A9728CFC8}" destId="{B95102C5-2E6A-B843-86CB-08BCF98F7ADB}" srcOrd="0" destOrd="0" parTransId="{89AE097B-6538-8D40-85D2-2C2A8250A2EC}" sibTransId="{FD1AE4CB-A6F6-3C47-AD76-86F82CDD9343}"/>
    <dgm:cxn modelId="{7B0330D7-2791-C747-86E8-3D6D32987444}" type="presOf" srcId="{FB8F4C78-6214-E54C-A14D-618A9728CFC8}" destId="{F6DAA0C1-2132-8D4A-B8E0-31A19DC208D5}" srcOrd="0" destOrd="0" presId="urn:microsoft.com/office/officeart/2005/8/layout/hProcess4"/>
    <dgm:cxn modelId="{A155D4ED-6DC8-6743-B616-73B5F8F9D81A}" type="presOf" srcId="{B95102C5-2E6A-B843-86CB-08BCF98F7ADB}" destId="{F3FE61C1-9566-7145-A876-3CDE251483C4}" srcOrd="0" destOrd="0" presId="urn:microsoft.com/office/officeart/2005/8/layout/hProcess4"/>
    <dgm:cxn modelId="{AC7610F3-F259-8F48-B912-9F1542A4DEAB}" type="presOf" srcId="{1907D6CD-2B44-6446-A8E5-70CE3A4F3FF5}" destId="{42C0CB7D-986B-F645-85A3-385BFBC85C05}" srcOrd="0" destOrd="1" presId="urn:microsoft.com/office/officeart/2005/8/layout/hProcess4"/>
    <dgm:cxn modelId="{ABE7E8FF-FDFF-0F48-80C1-56DD62FF874F}" type="presOf" srcId="{1907D6CD-2B44-6446-A8E5-70CE3A4F3FF5}" destId="{461BDE37-05A1-8A43-AD23-432BADF39828}" srcOrd="1" destOrd="1" presId="urn:microsoft.com/office/officeart/2005/8/layout/hProcess4"/>
    <dgm:cxn modelId="{7A2A35A8-67D1-8B47-A7E0-819AAD109D40}" type="presParOf" srcId="{F5B92D9C-5EEC-F047-8227-D9CD81E51C87}" destId="{FFC1006A-C81F-E041-8E9A-0638B6B35C0B}" srcOrd="0" destOrd="0" presId="urn:microsoft.com/office/officeart/2005/8/layout/hProcess4"/>
    <dgm:cxn modelId="{68E7E395-1D2A-E84C-BF84-7024FF68C042}" type="presParOf" srcId="{F5B92D9C-5EEC-F047-8227-D9CD81E51C87}" destId="{EE17FEBC-7EB8-3344-8AC4-0906ED01AB1C}" srcOrd="1" destOrd="0" presId="urn:microsoft.com/office/officeart/2005/8/layout/hProcess4"/>
    <dgm:cxn modelId="{75040DB2-D253-2C42-AA9F-D84E8C64D2AB}" type="presParOf" srcId="{F5B92D9C-5EEC-F047-8227-D9CD81E51C87}" destId="{8BD60D6F-C470-8548-BDDA-F854134031DA}" srcOrd="2" destOrd="0" presId="urn:microsoft.com/office/officeart/2005/8/layout/hProcess4"/>
    <dgm:cxn modelId="{01EB57B0-AC37-EB4F-85AF-597EDA8A9614}" type="presParOf" srcId="{8BD60D6F-C470-8548-BDDA-F854134031DA}" destId="{2C237AEF-B55D-E648-9123-3781EB072DAA}" srcOrd="0" destOrd="0" presId="urn:microsoft.com/office/officeart/2005/8/layout/hProcess4"/>
    <dgm:cxn modelId="{CD6A4AF1-939C-5549-B5DF-6C0233E82307}" type="presParOf" srcId="{2C237AEF-B55D-E648-9123-3781EB072DAA}" destId="{20A66A1F-FD92-1A4B-9222-5C81BEEA3943}" srcOrd="0" destOrd="0" presId="urn:microsoft.com/office/officeart/2005/8/layout/hProcess4"/>
    <dgm:cxn modelId="{35723C8F-472B-EE46-8911-5FA09AEC4AC4}" type="presParOf" srcId="{2C237AEF-B55D-E648-9123-3781EB072DAA}" destId="{F3FE61C1-9566-7145-A876-3CDE251483C4}" srcOrd="1" destOrd="0" presId="urn:microsoft.com/office/officeart/2005/8/layout/hProcess4"/>
    <dgm:cxn modelId="{19548F35-6090-AB41-9BB5-4ECFBC8A9B48}" type="presParOf" srcId="{2C237AEF-B55D-E648-9123-3781EB072DAA}" destId="{E72DC2F4-9C05-1142-A7D6-02AD17B7B709}" srcOrd="2" destOrd="0" presId="urn:microsoft.com/office/officeart/2005/8/layout/hProcess4"/>
    <dgm:cxn modelId="{8822A481-8FF4-E844-8784-C2C8C85EFA04}" type="presParOf" srcId="{2C237AEF-B55D-E648-9123-3781EB072DAA}" destId="{F6DAA0C1-2132-8D4A-B8E0-31A19DC208D5}" srcOrd="3" destOrd="0" presId="urn:microsoft.com/office/officeart/2005/8/layout/hProcess4"/>
    <dgm:cxn modelId="{D0CF9000-9266-754B-A959-110F65956395}" type="presParOf" srcId="{2C237AEF-B55D-E648-9123-3781EB072DAA}" destId="{2601EFA3-C9DB-9642-88FF-981135FF9B10}" srcOrd="4" destOrd="0" presId="urn:microsoft.com/office/officeart/2005/8/layout/hProcess4"/>
    <dgm:cxn modelId="{28CD8224-712F-664A-9D03-64F9AD2BB55E}" type="presParOf" srcId="{8BD60D6F-C470-8548-BDDA-F854134031DA}" destId="{F79EC0FD-C398-ED4B-A825-4BA09649B262}" srcOrd="1" destOrd="0" presId="urn:microsoft.com/office/officeart/2005/8/layout/hProcess4"/>
    <dgm:cxn modelId="{B4A0C8E0-213D-774F-B69B-40DE03233A75}" type="presParOf" srcId="{8BD60D6F-C470-8548-BDDA-F854134031DA}" destId="{3CD5F1B5-C6A1-C648-B519-AE692BF1D8F1}" srcOrd="2" destOrd="0" presId="urn:microsoft.com/office/officeart/2005/8/layout/hProcess4"/>
    <dgm:cxn modelId="{56AB5853-49F0-6142-A933-050A0748098F}" type="presParOf" srcId="{3CD5F1B5-C6A1-C648-B519-AE692BF1D8F1}" destId="{2FBE0953-233A-724D-B3B6-411AB9E393ED}" srcOrd="0" destOrd="0" presId="urn:microsoft.com/office/officeart/2005/8/layout/hProcess4"/>
    <dgm:cxn modelId="{0289422A-1CC3-3545-8C15-4549938B59B9}" type="presParOf" srcId="{3CD5F1B5-C6A1-C648-B519-AE692BF1D8F1}" destId="{42C0CB7D-986B-F645-85A3-385BFBC85C05}" srcOrd="1" destOrd="0" presId="urn:microsoft.com/office/officeart/2005/8/layout/hProcess4"/>
    <dgm:cxn modelId="{0B12254D-D4C3-6D4E-9374-ADF2C554930A}" type="presParOf" srcId="{3CD5F1B5-C6A1-C648-B519-AE692BF1D8F1}" destId="{461BDE37-05A1-8A43-AD23-432BADF39828}" srcOrd="2" destOrd="0" presId="urn:microsoft.com/office/officeart/2005/8/layout/hProcess4"/>
    <dgm:cxn modelId="{465013FC-B5F8-FC47-888F-6D960CF00105}" type="presParOf" srcId="{3CD5F1B5-C6A1-C648-B519-AE692BF1D8F1}" destId="{04B90FE5-2FBF-B040-B06F-81B8CEA8EE76}" srcOrd="3" destOrd="0" presId="urn:microsoft.com/office/officeart/2005/8/layout/hProcess4"/>
    <dgm:cxn modelId="{69BC5A20-B310-FB44-9085-7991B26EFBE7}" type="presParOf" srcId="{3CD5F1B5-C6A1-C648-B519-AE692BF1D8F1}" destId="{6C1CD3E8-C10C-B846-B329-8E3EBD5047D6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4600A6D-B96A-0B4A-B40C-317E2905E33E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MX"/>
        </a:p>
      </dgm:t>
    </dgm:pt>
    <dgm:pt modelId="{6CF9668F-CEA5-F84E-8C86-6F87B74409A6}">
      <dgm:prSet custT="1"/>
      <dgm:spPr/>
      <dgm:t>
        <a:bodyPr/>
        <a:lstStyle/>
        <a:p>
          <a:r>
            <a:rPr lang="es-AR" sz="1800" dirty="0">
              <a:solidFill>
                <a:schemeClr val="tx1"/>
              </a:solidFill>
            </a:rPr>
            <a:t>En Estados Unidos estas nuevas ideas y métodos fueron formalizados a través de la incorporación de un programa de la Agencia de Protección Ambiental de los Estados Unidos (EPA) llamado “Prevención de la polución” (</a:t>
          </a:r>
          <a:r>
            <a:rPr lang="es-AR" sz="1800" i="1" dirty="0" err="1">
              <a:solidFill>
                <a:schemeClr val="tx1"/>
              </a:solidFill>
            </a:rPr>
            <a:t>Pollution</a:t>
          </a:r>
          <a:r>
            <a:rPr lang="es-AR" sz="1800" i="1" dirty="0">
              <a:solidFill>
                <a:schemeClr val="tx1"/>
              </a:solidFill>
            </a:rPr>
            <a:t> </a:t>
          </a:r>
          <a:r>
            <a:rPr lang="es-AR" sz="1800" i="1" dirty="0" err="1">
              <a:solidFill>
                <a:schemeClr val="tx1"/>
              </a:solidFill>
            </a:rPr>
            <a:t>Prevention</a:t>
          </a:r>
          <a:r>
            <a:rPr lang="es-AR" sz="1800" dirty="0">
              <a:solidFill>
                <a:schemeClr val="tx1"/>
              </a:solidFill>
            </a:rPr>
            <a:t>) o P2, el cual fue aprobado por el Senado mediante un acta en el año de 1990. </a:t>
          </a:r>
        </a:p>
      </dgm:t>
    </dgm:pt>
    <dgm:pt modelId="{C71C17B0-454A-C34B-BED3-287414190AC5}" type="parTrans" cxnId="{7FDDF01E-DDA0-2A42-B3F3-6ACB0BF6E357}">
      <dgm:prSet/>
      <dgm:spPr/>
      <dgm:t>
        <a:bodyPr/>
        <a:lstStyle/>
        <a:p>
          <a:endParaRPr lang="es-MX" sz="2400">
            <a:solidFill>
              <a:schemeClr val="tx1"/>
            </a:solidFill>
          </a:endParaRPr>
        </a:p>
      </dgm:t>
    </dgm:pt>
    <dgm:pt modelId="{23A01812-E6AC-F24C-9B07-C7F6E87F42B4}" type="sibTrans" cxnId="{7FDDF01E-DDA0-2A42-B3F3-6ACB0BF6E357}">
      <dgm:prSet/>
      <dgm:spPr/>
      <dgm:t>
        <a:bodyPr/>
        <a:lstStyle/>
        <a:p>
          <a:endParaRPr lang="es-MX" sz="2400">
            <a:solidFill>
              <a:schemeClr val="tx1"/>
            </a:solidFill>
          </a:endParaRPr>
        </a:p>
      </dgm:t>
    </dgm:pt>
    <dgm:pt modelId="{794FB16D-5B1A-744B-B658-FEB1D578B239}">
      <dgm:prSet custT="1"/>
      <dgm:spPr/>
      <dgm:t>
        <a:bodyPr/>
        <a:lstStyle/>
        <a:p>
          <a:r>
            <a:rPr lang="es-AR" sz="1800" dirty="0">
              <a:solidFill>
                <a:schemeClr val="tx1"/>
              </a:solidFill>
            </a:rPr>
            <a:t>En Europa, el Programa de las Naciones Unidas para el Ambiente - PNUMA a través de la </a:t>
          </a:r>
          <a:r>
            <a:rPr lang="es-AR" sz="1800" dirty="0" err="1">
              <a:solidFill>
                <a:schemeClr val="tx1"/>
              </a:solidFill>
            </a:rPr>
            <a:t>División</a:t>
          </a:r>
          <a:r>
            <a:rPr lang="es-AR" sz="1800" dirty="0">
              <a:solidFill>
                <a:schemeClr val="tx1"/>
              </a:solidFill>
            </a:rPr>
            <a:t> de Tecnología Industria y Medioambiente de París, reconoció problemas similares y enfatizó principalmente en la necesidad de prevenir la contaminación. </a:t>
          </a:r>
        </a:p>
      </dgm:t>
    </dgm:pt>
    <dgm:pt modelId="{E58EDB1A-BEAF-814D-A175-8016CBA29D9A}" type="parTrans" cxnId="{1AAB5C12-B269-2C48-9C65-A41AC28D5955}">
      <dgm:prSet/>
      <dgm:spPr/>
      <dgm:t>
        <a:bodyPr/>
        <a:lstStyle/>
        <a:p>
          <a:endParaRPr lang="es-MX" sz="2400">
            <a:solidFill>
              <a:schemeClr val="tx1"/>
            </a:solidFill>
          </a:endParaRPr>
        </a:p>
      </dgm:t>
    </dgm:pt>
    <dgm:pt modelId="{8C0386AD-1604-C04F-B6F3-007CDB818DD4}" type="sibTrans" cxnId="{1AAB5C12-B269-2C48-9C65-A41AC28D5955}">
      <dgm:prSet/>
      <dgm:spPr/>
      <dgm:t>
        <a:bodyPr/>
        <a:lstStyle/>
        <a:p>
          <a:endParaRPr lang="es-MX" sz="2400">
            <a:solidFill>
              <a:schemeClr val="tx1"/>
            </a:solidFill>
          </a:endParaRPr>
        </a:p>
      </dgm:t>
    </dgm:pt>
    <dgm:pt modelId="{955AA9D1-CAFD-B040-B929-9AD836F60E34}">
      <dgm:prSet custT="1"/>
      <dgm:spPr/>
      <dgm:t>
        <a:bodyPr/>
        <a:lstStyle/>
        <a:p>
          <a:r>
            <a:rPr lang="es-AR" sz="1800">
              <a:solidFill>
                <a:schemeClr val="tx1"/>
              </a:solidFill>
            </a:rPr>
            <a:t>Posteriormente, en la Cumbre Mundial sobre Desarrollo Sustentable de Johannesburgo (2002), en uno de los objetivos del plan de acción se plasmó la necesidad de modificar las prácticas de producción y consumo no sustentables, mediante la inversión en programas de PML y ecoeficiencia por parte de las industrias. </a:t>
          </a:r>
        </a:p>
      </dgm:t>
    </dgm:pt>
    <dgm:pt modelId="{B850365B-C507-3741-91B3-C6B5A03BB0F9}" type="parTrans" cxnId="{EC57D6C6-3E77-EB45-BFEA-B03D6266035D}">
      <dgm:prSet/>
      <dgm:spPr/>
      <dgm:t>
        <a:bodyPr/>
        <a:lstStyle/>
        <a:p>
          <a:endParaRPr lang="es-MX" sz="2400">
            <a:solidFill>
              <a:schemeClr val="tx1"/>
            </a:solidFill>
          </a:endParaRPr>
        </a:p>
      </dgm:t>
    </dgm:pt>
    <dgm:pt modelId="{58E0BED5-9287-C74C-8B07-CC29EE4231A4}" type="sibTrans" cxnId="{EC57D6C6-3E77-EB45-BFEA-B03D6266035D}">
      <dgm:prSet/>
      <dgm:spPr/>
      <dgm:t>
        <a:bodyPr/>
        <a:lstStyle/>
        <a:p>
          <a:endParaRPr lang="es-MX" sz="2400">
            <a:solidFill>
              <a:schemeClr val="tx1"/>
            </a:solidFill>
          </a:endParaRPr>
        </a:p>
      </dgm:t>
    </dgm:pt>
    <dgm:pt modelId="{BC6789AD-C408-2E4B-B15C-BAE22DD7ED99}">
      <dgm:prSet custT="1"/>
      <dgm:spPr/>
      <dgm:t>
        <a:bodyPr/>
        <a:lstStyle/>
        <a:p>
          <a:r>
            <a:rPr lang="es-AR" sz="1800">
              <a:solidFill>
                <a:schemeClr val="tx1"/>
              </a:solidFill>
            </a:rPr>
            <a:t>Planteando que la contaminación generada por las industrias debía ser abordada a través de la mejora continua de las diferentes etapas del proceso productivo; con lo cual, no solo se reduciría la contaminación, sino que también aumentaría la eficiencia del proceso (Varela, 2003b). </a:t>
          </a:r>
        </a:p>
      </dgm:t>
    </dgm:pt>
    <dgm:pt modelId="{4FB55A78-AC1D-7240-A619-C165E5739E10}" type="parTrans" cxnId="{DAF9C166-0E83-1B42-8EE0-32167DB65C12}">
      <dgm:prSet/>
      <dgm:spPr/>
      <dgm:t>
        <a:bodyPr/>
        <a:lstStyle/>
        <a:p>
          <a:endParaRPr lang="es-MX" sz="2400">
            <a:solidFill>
              <a:schemeClr val="tx1"/>
            </a:solidFill>
          </a:endParaRPr>
        </a:p>
      </dgm:t>
    </dgm:pt>
    <dgm:pt modelId="{281D3FB6-F5D7-D64E-B7DC-E9CB4859FAD1}" type="sibTrans" cxnId="{DAF9C166-0E83-1B42-8EE0-32167DB65C12}">
      <dgm:prSet/>
      <dgm:spPr/>
      <dgm:t>
        <a:bodyPr/>
        <a:lstStyle/>
        <a:p>
          <a:endParaRPr lang="es-MX" sz="2400">
            <a:solidFill>
              <a:schemeClr val="tx1"/>
            </a:solidFill>
          </a:endParaRPr>
        </a:p>
      </dgm:t>
    </dgm:pt>
    <dgm:pt modelId="{33EE19CB-BF18-FD41-B454-951DB09AB700}">
      <dgm:prSet custT="1"/>
      <dgm:spPr/>
      <dgm:t>
        <a:bodyPr/>
        <a:lstStyle/>
        <a:p>
          <a:r>
            <a:rPr lang="es-AR" sz="1800" dirty="0">
              <a:solidFill>
                <a:schemeClr val="tx1"/>
              </a:solidFill>
            </a:rPr>
            <a:t>El PNUMA lo llamó Producción Más Limpia (PML) o </a:t>
          </a:r>
          <a:r>
            <a:rPr lang="es-AR" sz="1800" i="1" dirty="0" err="1">
              <a:solidFill>
                <a:schemeClr val="tx1"/>
              </a:solidFill>
            </a:rPr>
            <a:t>Cleaner</a:t>
          </a:r>
          <a:r>
            <a:rPr lang="es-AR" sz="1800" i="1" dirty="0">
              <a:solidFill>
                <a:schemeClr val="tx1"/>
              </a:solidFill>
            </a:rPr>
            <a:t> </a:t>
          </a:r>
          <a:r>
            <a:rPr lang="es-AR" sz="1800" i="1" dirty="0" err="1">
              <a:solidFill>
                <a:schemeClr val="tx1"/>
              </a:solidFill>
            </a:rPr>
            <a:t>Production</a:t>
          </a:r>
          <a:r>
            <a:rPr lang="es-AR" sz="1800" i="1" dirty="0">
              <a:solidFill>
                <a:schemeClr val="tx1"/>
              </a:solidFill>
            </a:rPr>
            <a:t> </a:t>
          </a:r>
          <a:r>
            <a:rPr lang="es-AR" sz="1800" dirty="0">
              <a:solidFill>
                <a:schemeClr val="tx1"/>
              </a:solidFill>
            </a:rPr>
            <a:t>(CP), y se convirtió en la autoridad ambiental líder en el mundo, encargada de promover su aplicación (</a:t>
          </a:r>
          <a:r>
            <a:rPr lang="es-AR" sz="1800" dirty="0" err="1">
              <a:solidFill>
                <a:schemeClr val="tx1"/>
              </a:solidFill>
            </a:rPr>
            <a:t>Scafati</a:t>
          </a:r>
          <a:r>
            <a:rPr lang="es-AR" sz="1800" dirty="0">
              <a:solidFill>
                <a:schemeClr val="tx1"/>
              </a:solidFill>
            </a:rPr>
            <a:t>, 2009). </a:t>
          </a:r>
        </a:p>
      </dgm:t>
    </dgm:pt>
    <dgm:pt modelId="{8C53F7E1-433B-5649-9B06-8715C71F5D6A}" type="parTrans" cxnId="{1331AC5C-0411-BB45-BBAD-093A07ED676F}">
      <dgm:prSet/>
      <dgm:spPr/>
      <dgm:t>
        <a:bodyPr/>
        <a:lstStyle/>
        <a:p>
          <a:endParaRPr lang="es-MX" sz="2400">
            <a:solidFill>
              <a:schemeClr val="tx1"/>
            </a:solidFill>
          </a:endParaRPr>
        </a:p>
      </dgm:t>
    </dgm:pt>
    <dgm:pt modelId="{75E58579-4F3C-D842-A4E7-629BB2AEB1E4}" type="sibTrans" cxnId="{1331AC5C-0411-BB45-BBAD-093A07ED676F}">
      <dgm:prSet/>
      <dgm:spPr/>
      <dgm:t>
        <a:bodyPr/>
        <a:lstStyle/>
        <a:p>
          <a:endParaRPr lang="es-MX" sz="2400">
            <a:solidFill>
              <a:schemeClr val="tx1"/>
            </a:solidFill>
          </a:endParaRPr>
        </a:p>
      </dgm:t>
    </dgm:pt>
    <dgm:pt modelId="{486CF857-BB12-B945-B2FD-1355DDA4D6A0}" type="pres">
      <dgm:prSet presAssocID="{C4600A6D-B96A-0B4A-B40C-317E2905E33E}" presName="Name0" presStyleCnt="0">
        <dgm:presLayoutVars>
          <dgm:dir/>
          <dgm:animLvl val="lvl"/>
          <dgm:resizeHandles val="exact"/>
        </dgm:presLayoutVars>
      </dgm:prSet>
      <dgm:spPr/>
    </dgm:pt>
    <dgm:pt modelId="{0A1B512C-0555-6949-A77E-9472A0193AE8}" type="pres">
      <dgm:prSet presAssocID="{33EE19CB-BF18-FD41-B454-951DB09AB700}" presName="boxAndChildren" presStyleCnt="0"/>
      <dgm:spPr/>
    </dgm:pt>
    <dgm:pt modelId="{73449BDB-BA2D-FB48-9AF7-7EA31C5EBFBE}" type="pres">
      <dgm:prSet presAssocID="{33EE19CB-BF18-FD41-B454-951DB09AB700}" presName="parentTextBox" presStyleLbl="node1" presStyleIdx="0" presStyleCnt="5"/>
      <dgm:spPr/>
    </dgm:pt>
    <dgm:pt modelId="{6BCD8126-3567-A44F-A64B-F5ECB2CC9C47}" type="pres">
      <dgm:prSet presAssocID="{281D3FB6-F5D7-D64E-B7DC-E9CB4859FAD1}" presName="sp" presStyleCnt="0"/>
      <dgm:spPr/>
    </dgm:pt>
    <dgm:pt modelId="{74366DAD-E8B4-0E43-A80B-B22C5055ECB6}" type="pres">
      <dgm:prSet presAssocID="{BC6789AD-C408-2E4B-B15C-BAE22DD7ED99}" presName="arrowAndChildren" presStyleCnt="0"/>
      <dgm:spPr/>
    </dgm:pt>
    <dgm:pt modelId="{6C38B421-6FD8-A94F-ABA8-BAA71DC4FD16}" type="pres">
      <dgm:prSet presAssocID="{BC6789AD-C408-2E4B-B15C-BAE22DD7ED99}" presName="parentTextArrow" presStyleLbl="node1" presStyleIdx="1" presStyleCnt="5"/>
      <dgm:spPr/>
    </dgm:pt>
    <dgm:pt modelId="{227E3775-A5CE-5947-9EA4-1AD8B0E35273}" type="pres">
      <dgm:prSet presAssocID="{58E0BED5-9287-C74C-8B07-CC29EE4231A4}" presName="sp" presStyleCnt="0"/>
      <dgm:spPr/>
    </dgm:pt>
    <dgm:pt modelId="{2848D51E-F20F-E546-952E-1A4B8A884B67}" type="pres">
      <dgm:prSet presAssocID="{955AA9D1-CAFD-B040-B929-9AD836F60E34}" presName="arrowAndChildren" presStyleCnt="0"/>
      <dgm:spPr/>
    </dgm:pt>
    <dgm:pt modelId="{E61EA998-2BBD-C746-852A-F68B6C49ACC0}" type="pres">
      <dgm:prSet presAssocID="{955AA9D1-CAFD-B040-B929-9AD836F60E34}" presName="parentTextArrow" presStyleLbl="node1" presStyleIdx="2" presStyleCnt="5"/>
      <dgm:spPr/>
    </dgm:pt>
    <dgm:pt modelId="{DDA9939E-7D98-3042-9339-67ACB145C031}" type="pres">
      <dgm:prSet presAssocID="{8C0386AD-1604-C04F-B6F3-007CDB818DD4}" presName="sp" presStyleCnt="0"/>
      <dgm:spPr/>
    </dgm:pt>
    <dgm:pt modelId="{53B3B878-5E96-0F46-A632-0DADDF5BC966}" type="pres">
      <dgm:prSet presAssocID="{794FB16D-5B1A-744B-B658-FEB1D578B239}" presName="arrowAndChildren" presStyleCnt="0"/>
      <dgm:spPr/>
    </dgm:pt>
    <dgm:pt modelId="{EBC0F978-E4C4-3F44-9FEB-1ADB70F855B4}" type="pres">
      <dgm:prSet presAssocID="{794FB16D-5B1A-744B-B658-FEB1D578B239}" presName="parentTextArrow" presStyleLbl="node1" presStyleIdx="3" presStyleCnt="5"/>
      <dgm:spPr/>
    </dgm:pt>
    <dgm:pt modelId="{54309C06-CC10-5D4F-839E-6D1B24FE039D}" type="pres">
      <dgm:prSet presAssocID="{23A01812-E6AC-F24C-9B07-C7F6E87F42B4}" presName="sp" presStyleCnt="0"/>
      <dgm:spPr/>
    </dgm:pt>
    <dgm:pt modelId="{59D1C78C-AF10-4D49-A77E-6C240BAD5A67}" type="pres">
      <dgm:prSet presAssocID="{6CF9668F-CEA5-F84E-8C86-6F87B74409A6}" presName="arrowAndChildren" presStyleCnt="0"/>
      <dgm:spPr/>
    </dgm:pt>
    <dgm:pt modelId="{15C92CF4-CD35-E046-A0FB-54CFD17E9E98}" type="pres">
      <dgm:prSet presAssocID="{6CF9668F-CEA5-F84E-8C86-6F87B74409A6}" presName="parentTextArrow" presStyleLbl="node1" presStyleIdx="4" presStyleCnt="5"/>
      <dgm:spPr/>
    </dgm:pt>
  </dgm:ptLst>
  <dgm:cxnLst>
    <dgm:cxn modelId="{1AAB5C12-B269-2C48-9C65-A41AC28D5955}" srcId="{C4600A6D-B96A-0B4A-B40C-317E2905E33E}" destId="{794FB16D-5B1A-744B-B658-FEB1D578B239}" srcOrd="1" destOrd="0" parTransId="{E58EDB1A-BEAF-814D-A175-8016CBA29D9A}" sibTransId="{8C0386AD-1604-C04F-B6F3-007CDB818DD4}"/>
    <dgm:cxn modelId="{7FDDF01E-DDA0-2A42-B3F3-6ACB0BF6E357}" srcId="{C4600A6D-B96A-0B4A-B40C-317E2905E33E}" destId="{6CF9668F-CEA5-F84E-8C86-6F87B74409A6}" srcOrd="0" destOrd="0" parTransId="{C71C17B0-454A-C34B-BED3-287414190AC5}" sibTransId="{23A01812-E6AC-F24C-9B07-C7F6E87F42B4}"/>
    <dgm:cxn modelId="{0B31F323-EF3F-3948-9CA3-3B333ACD39F5}" type="presOf" srcId="{BC6789AD-C408-2E4B-B15C-BAE22DD7ED99}" destId="{6C38B421-6FD8-A94F-ABA8-BAA71DC4FD16}" srcOrd="0" destOrd="0" presId="urn:microsoft.com/office/officeart/2005/8/layout/process4"/>
    <dgm:cxn modelId="{1331AC5C-0411-BB45-BBAD-093A07ED676F}" srcId="{C4600A6D-B96A-0B4A-B40C-317E2905E33E}" destId="{33EE19CB-BF18-FD41-B454-951DB09AB700}" srcOrd="4" destOrd="0" parTransId="{8C53F7E1-433B-5649-9B06-8715C71F5D6A}" sibTransId="{75E58579-4F3C-D842-A4E7-629BB2AEB1E4}"/>
    <dgm:cxn modelId="{B0191961-78E0-A74E-AEC3-BF079FE4E254}" type="presOf" srcId="{C4600A6D-B96A-0B4A-B40C-317E2905E33E}" destId="{486CF857-BB12-B945-B2FD-1355DDA4D6A0}" srcOrd="0" destOrd="0" presId="urn:microsoft.com/office/officeart/2005/8/layout/process4"/>
    <dgm:cxn modelId="{DAF9C166-0E83-1B42-8EE0-32167DB65C12}" srcId="{C4600A6D-B96A-0B4A-B40C-317E2905E33E}" destId="{BC6789AD-C408-2E4B-B15C-BAE22DD7ED99}" srcOrd="3" destOrd="0" parTransId="{4FB55A78-AC1D-7240-A619-C165E5739E10}" sibTransId="{281D3FB6-F5D7-D64E-B7DC-E9CB4859FAD1}"/>
    <dgm:cxn modelId="{CD8F298A-9280-FB4D-99DD-AC51BEACAE9C}" type="presOf" srcId="{955AA9D1-CAFD-B040-B929-9AD836F60E34}" destId="{E61EA998-2BBD-C746-852A-F68B6C49ACC0}" srcOrd="0" destOrd="0" presId="urn:microsoft.com/office/officeart/2005/8/layout/process4"/>
    <dgm:cxn modelId="{87352B9B-FD0D-D94C-B571-E4F8A5B9F906}" type="presOf" srcId="{33EE19CB-BF18-FD41-B454-951DB09AB700}" destId="{73449BDB-BA2D-FB48-9AF7-7EA31C5EBFBE}" srcOrd="0" destOrd="0" presId="urn:microsoft.com/office/officeart/2005/8/layout/process4"/>
    <dgm:cxn modelId="{A0A5C7BC-F7E7-3F4E-9E9F-592CA4C7B63F}" type="presOf" srcId="{794FB16D-5B1A-744B-B658-FEB1D578B239}" destId="{EBC0F978-E4C4-3F44-9FEB-1ADB70F855B4}" srcOrd="0" destOrd="0" presId="urn:microsoft.com/office/officeart/2005/8/layout/process4"/>
    <dgm:cxn modelId="{EC57D6C6-3E77-EB45-BFEA-B03D6266035D}" srcId="{C4600A6D-B96A-0B4A-B40C-317E2905E33E}" destId="{955AA9D1-CAFD-B040-B929-9AD836F60E34}" srcOrd="2" destOrd="0" parTransId="{B850365B-C507-3741-91B3-C6B5A03BB0F9}" sibTransId="{58E0BED5-9287-C74C-8B07-CC29EE4231A4}"/>
    <dgm:cxn modelId="{766EC4D1-9662-E841-B3C4-45056492152F}" type="presOf" srcId="{6CF9668F-CEA5-F84E-8C86-6F87B74409A6}" destId="{15C92CF4-CD35-E046-A0FB-54CFD17E9E98}" srcOrd="0" destOrd="0" presId="urn:microsoft.com/office/officeart/2005/8/layout/process4"/>
    <dgm:cxn modelId="{A261C68F-EF26-2B40-8AFD-A44C804A2675}" type="presParOf" srcId="{486CF857-BB12-B945-B2FD-1355DDA4D6A0}" destId="{0A1B512C-0555-6949-A77E-9472A0193AE8}" srcOrd="0" destOrd="0" presId="urn:microsoft.com/office/officeart/2005/8/layout/process4"/>
    <dgm:cxn modelId="{14E58D3B-0C64-854D-B4F4-A72E98BBD09B}" type="presParOf" srcId="{0A1B512C-0555-6949-A77E-9472A0193AE8}" destId="{73449BDB-BA2D-FB48-9AF7-7EA31C5EBFBE}" srcOrd="0" destOrd="0" presId="urn:microsoft.com/office/officeart/2005/8/layout/process4"/>
    <dgm:cxn modelId="{5F09DAE0-474A-1A45-8DFF-C495EEFBAB05}" type="presParOf" srcId="{486CF857-BB12-B945-B2FD-1355DDA4D6A0}" destId="{6BCD8126-3567-A44F-A64B-F5ECB2CC9C47}" srcOrd="1" destOrd="0" presId="urn:microsoft.com/office/officeart/2005/8/layout/process4"/>
    <dgm:cxn modelId="{ADA3C1D7-F6CB-1D49-920A-0D9A33606776}" type="presParOf" srcId="{486CF857-BB12-B945-B2FD-1355DDA4D6A0}" destId="{74366DAD-E8B4-0E43-A80B-B22C5055ECB6}" srcOrd="2" destOrd="0" presId="urn:microsoft.com/office/officeart/2005/8/layout/process4"/>
    <dgm:cxn modelId="{F3E23E1D-9F2E-E344-B273-72388B8021C3}" type="presParOf" srcId="{74366DAD-E8B4-0E43-A80B-B22C5055ECB6}" destId="{6C38B421-6FD8-A94F-ABA8-BAA71DC4FD16}" srcOrd="0" destOrd="0" presId="urn:microsoft.com/office/officeart/2005/8/layout/process4"/>
    <dgm:cxn modelId="{8A8D7219-2A89-F644-B901-1307462746EB}" type="presParOf" srcId="{486CF857-BB12-B945-B2FD-1355DDA4D6A0}" destId="{227E3775-A5CE-5947-9EA4-1AD8B0E35273}" srcOrd="3" destOrd="0" presId="urn:microsoft.com/office/officeart/2005/8/layout/process4"/>
    <dgm:cxn modelId="{12F7EE33-DE52-9F48-94EA-D29644636253}" type="presParOf" srcId="{486CF857-BB12-B945-B2FD-1355DDA4D6A0}" destId="{2848D51E-F20F-E546-952E-1A4B8A884B67}" srcOrd="4" destOrd="0" presId="urn:microsoft.com/office/officeart/2005/8/layout/process4"/>
    <dgm:cxn modelId="{77BAB29D-986B-D64F-B21D-1FDB096071A2}" type="presParOf" srcId="{2848D51E-F20F-E546-952E-1A4B8A884B67}" destId="{E61EA998-2BBD-C746-852A-F68B6C49ACC0}" srcOrd="0" destOrd="0" presId="urn:microsoft.com/office/officeart/2005/8/layout/process4"/>
    <dgm:cxn modelId="{F8762833-8A7E-0949-A679-AC640274F0A7}" type="presParOf" srcId="{486CF857-BB12-B945-B2FD-1355DDA4D6A0}" destId="{DDA9939E-7D98-3042-9339-67ACB145C031}" srcOrd="5" destOrd="0" presId="urn:microsoft.com/office/officeart/2005/8/layout/process4"/>
    <dgm:cxn modelId="{7A39CE1C-EAD3-DB4D-B65E-BA45355149C2}" type="presParOf" srcId="{486CF857-BB12-B945-B2FD-1355DDA4D6A0}" destId="{53B3B878-5E96-0F46-A632-0DADDF5BC966}" srcOrd="6" destOrd="0" presId="urn:microsoft.com/office/officeart/2005/8/layout/process4"/>
    <dgm:cxn modelId="{A7E80322-4EA6-5E4E-827A-361727796D04}" type="presParOf" srcId="{53B3B878-5E96-0F46-A632-0DADDF5BC966}" destId="{EBC0F978-E4C4-3F44-9FEB-1ADB70F855B4}" srcOrd="0" destOrd="0" presId="urn:microsoft.com/office/officeart/2005/8/layout/process4"/>
    <dgm:cxn modelId="{739A7CA2-FA08-1F47-9808-91DDBE16688D}" type="presParOf" srcId="{486CF857-BB12-B945-B2FD-1355DDA4D6A0}" destId="{54309C06-CC10-5D4F-839E-6D1B24FE039D}" srcOrd="7" destOrd="0" presId="urn:microsoft.com/office/officeart/2005/8/layout/process4"/>
    <dgm:cxn modelId="{3412A41F-3C34-5044-BC88-A8FB5CA788B0}" type="presParOf" srcId="{486CF857-BB12-B945-B2FD-1355DDA4D6A0}" destId="{59D1C78C-AF10-4D49-A77E-6C240BAD5A67}" srcOrd="8" destOrd="0" presId="urn:microsoft.com/office/officeart/2005/8/layout/process4"/>
    <dgm:cxn modelId="{26532D53-22DE-8344-A0B6-3B5F403FC15B}" type="presParOf" srcId="{59D1C78C-AF10-4D49-A77E-6C240BAD5A67}" destId="{15C92CF4-CD35-E046-A0FB-54CFD17E9E9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9AAFA0E-A547-414B-9EBC-D764468FCDB6}" type="doc">
      <dgm:prSet loTypeId="urn:microsoft.com/office/officeart/2005/8/layout/process4" loCatId="process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s-MX"/>
        </a:p>
      </dgm:t>
    </dgm:pt>
    <dgm:pt modelId="{441FD67E-8974-9C4E-B6BA-1CFDDCCE5741}">
      <dgm:prSet custT="1"/>
      <dgm:spPr/>
      <dgm:t>
        <a:bodyPr/>
        <a:lstStyle/>
        <a:p>
          <a:r>
            <a:rPr lang="es-AR" sz="2000"/>
            <a:t>La declaración internacional sobre PML considera, que la PML y otras estrategias preventivas como la </a:t>
          </a:r>
          <a:r>
            <a:rPr lang="es-AR" sz="2000" i="1"/>
            <a:t>Ecoeficiencia, </a:t>
          </a:r>
          <a:r>
            <a:rPr lang="es-AR" sz="2000"/>
            <a:t>la </a:t>
          </a:r>
          <a:r>
            <a:rPr lang="es-AR" sz="2000" i="1"/>
            <a:t>Productividad Ecológica </a:t>
          </a:r>
          <a:r>
            <a:rPr lang="es-AR" sz="2000"/>
            <a:t>y la </a:t>
          </a:r>
          <a:r>
            <a:rPr lang="es-AR" sz="2000" i="1"/>
            <a:t>Prevención de la Contaminación</a:t>
          </a:r>
          <a:r>
            <a:rPr lang="es-AR" sz="2000"/>
            <a:t>, son las opciones adecuadas para estos fines (Álvarez y Arias, 2009). </a:t>
          </a:r>
        </a:p>
      </dgm:t>
    </dgm:pt>
    <dgm:pt modelId="{1CA8BEA7-2C66-6B4E-A529-904E5269FCE3}" type="parTrans" cxnId="{EB219223-979C-4F48-BEBA-75F951FD38AE}">
      <dgm:prSet/>
      <dgm:spPr/>
      <dgm:t>
        <a:bodyPr/>
        <a:lstStyle/>
        <a:p>
          <a:endParaRPr lang="es-MX" sz="2800"/>
        </a:p>
      </dgm:t>
    </dgm:pt>
    <dgm:pt modelId="{E63192D5-C264-2D47-99C4-D9E563ABBAD1}" type="sibTrans" cxnId="{EB219223-979C-4F48-BEBA-75F951FD38AE}">
      <dgm:prSet/>
      <dgm:spPr/>
      <dgm:t>
        <a:bodyPr/>
        <a:lstStyle/>
        <a:p>
          <a:endParaRPr lang="es-MX" sz="2800"/>
        </a:p>
      </dgm:t>
    </dgm:pt>
    <dgm:pt modelId="{BC15BB7C-8AAE-9D47-BA26-879EC672C4EE}">
      <dgm:prSet custT="1"/>
      <dgm:spPr/>
      <dgm:t>
        <a:bodyPr/>
        <a:lstStyle/>
        <a:p>
          <a:r>
            <a:rPr lang="es-AR" sz="2000"/>
            <a:t>Considerando la idea de incorporar la reducción de la contaminación al proceso de producción, e inclusive a las etapas concernientes a la planeación y diseño del producto, revisión y modificación de los procesos (Varsavsky, s.f.). </a:t>
          </a:r>
        </a:p>
      </dgm:t>
    </dgm:pt>
    <dgm:pt modelId="{CF66E03E-66C7-0246-89B0-20D0BDF3EC32}" type="parTrans" cxnId="{03BEF5A6-A418-E74D-80D7-3E28DCF5C876}">
      <dgm:prSet/>
      <dgm:spPr/>
      <dgm:t>
        <a:bodyPr/>
        <a:lstStyle/>
        <a:p>
          <a:endParaRPr lang="es-MX" sz="2800"/>
        </a:p>
      </dgm:t>
    </dgm:pt>
    <dgm:pt modelId="{936EEA86-B771-0B44-A3CA-007B48333CCC}" type="sibTrans" cxnId="{03BEF5A6-A418-E74D-80D7-3E28DCF5C876}">
      <dgm:prSet/>
      <dgm:spPr/>
      <dgm:t>
        <a:bodyPr/>
        <a:lstStyle/>
        <a:p>
          <a:endParaRPr lang="es-MX" sz="2800"/>
        </a:p>
      </dgm:t>
    </dgm:pt>
    <dgm:pt modelId="{E72C23B9-9FAB-6F47-9955-D720560CA21D}">
      <dgm:prSet custT="1"/>
      <dgm:spPr/>
      <dgm:t>
        <a:bodyPr/>
        <a:lstStyle/>
        <a:p>
          <a:r>
            <a:rPr lang="es-AR" sz="2000"/>
            <a:t>El Programa Nacional de Medio Ambiente y Desarrollo, que constituye la adecuación de la Agenda 21, dedica el capítulo 18 a la PML y define como sus objetivos los siguientes: </a:t>
          </a:r>
        </a:p>
      </dgm:t>
    </dgm:pt>
    <dgm:pt modelId="{90A0E0DF-5D8B-D24E-BB09-5ED70BFFEA57}" type="parTrans" cxnId="{BEEFC937-4D98-7348-9B29-E9F0DF61CD9D}">
      <dgm:prSet/>
      <dgm:spPr/>
      <dgm:t>
        <a:bodyPr/>
        <a:lstStyle/>
        <a:p>
          <a:endParaRPr lang="es-MX" sz="2800"/>
        </a:p>
      </dgm:t>
    </dgm:pt>
    <dgm:pt modelId="{DF14D870-A95F-3C4A-91B8-C57983B7F0E6}" type="sibTrans" cxnId="{BEEFC937-4D98-7348-9B29-E9F0DF61CD9D}">
      <dgm:prSet/>
      <dgm:spPr/>
      <dgm:t>
        <a:bodyPr/>
        <a:lstStyle/>
        <a:p>
          <a:endParaRPr lang="es-MX" sz="2800"/>
        </a:p>
      </dgm:t>
    </dgm:pt>
    <dgm:pt modelId="{A522EEEC-7247-9D44-8512-6B605A7F3097}">
      <dgm:prSet custT="1"/>
      <dgm:spPr/>
      <dgm:t>
        <a:bodyPr/>
        <a:lstStyle/>
        <a:p>
          <a:r>
            <a:rPr lang="es-AR" sz="2000" dirty="0">
              <a:solidFill>
                <a:srgbClr val="FF0000"/>
              </a:solidFill>
            </a:rPr>
            <a:t>Elevar la eficiencia en el uso de los recursos y fortalecer el concepto de la administración responsable en la gestión ambiental y uso de los recursos por la empresa.</a:t>
          </a:r>
          <a:r>
            <a:rPr lang="es-AR" sz="2000" dirty="0"/>
            <a:t> </a:t>
          </a:r>
        </a:p>
      </dgm:t>
    </dgm:pt>
    <dgm:pt modelId="{E6DAE758-8F20-6F45-9D7E-55D3EB0E86FB}" type="parTrans" cxnId="{2BB99209-D22B-0247-9387-44D409C2B381}">
      <dgm:prSet/>
      <dgm:spPr/>
      <dgm:t>
        <a:bodyPr/>
        <a:lstStyle/>
        <a:p>
          <a:endParaRPr lang="es-MX" sz="2800"/>
        </a:p>
      </dgm:t>
    </dgm:pt>
    <dgm:pt modelId="{257B639F-3441-8046-917E-62B981FD595F}" type="sibTrans" cxnId="{2BB99209-D22B-0247-9387-44D409C2B381}">
      <dgm:prSet/>
      <dgm:spPr/>
      <dgm:t>
        <a:bodyPr/>
        <a:lstStyle/>
        <a:p>
          <a:endParaRPr lang="es-MX" sz="2800"/>
        </a:p>
      </dgm:t>
    </dgm:pt>
    <dgm:pt modelId="{9ACF1CC7-64AD-A042-8D3E-296E5427ED4B}" type="pres">
      <dgm:prSet presAssocID="{D9AAFA0E-A547-414B-9EBC-D764468FCDB6}" presName="Name0" presStyleCnt="0">
        <dgm:presLayoutVars>
          <dgm:dir/>
          <dgm:animLvl val="lvl"/>
          <dgm:resizeHandles val="exact"/>
        </dgm:presLayoutVars>
      </dgm:prSet>
      <dgm:spPr/>
    </dgm:pt>
    <dgm:pt modelId="{087541DE-D6D8-4E49-9880-738E6898C9FB}" type="pres">
      <dgm:prSet presAssocID="{A522EEEC-7247-9D44-8512-6B605A7F3097}" presName="boxAndChildren" presStyleCnt="0"/>
      <dgm:spPr/>
    </dgm:pt>
    <dgm:pt modelId="{6EFD9445-D68C-7E48-A6A5-10505BF60ABC}" type="pres">
      <dgm:prSet presAssocID="{A522EEEC-7247-9D44-8512-6B605A7F3097}" presName="parentTextBox" presStyleLbl="node1" presStyleIdx="0" presStyleCnt="4"/>
      <dgm:spPr/>
    </dgm:pt>
    <dgm:pt modelId="{84B1DD93-F127-1346-AD1B-FA0FE0FE3BB1}" type="pres">
      <dgm:prSet presAssocID="{DF14D870-A95F-3C4A-91B8-C57983B7F0E6}" presName="sp" presStyleCnt="0"/>
      <dgm:spPr/>
    </dgm:pt>
    <dgm:pt modelId="{675EA930-EF8D-1047-9AC1-27ED9CE83604}" type="pres">
      <dgm:prSet presAssocID="{E72C23B9-9FAB-6F47-9955-D720560CA21D}" presName="arrowAndChildren" presStyleCnt="0"/>
      <dgm:spPr/>
    </dgm:pt>
    <dgm:pt modelId="{0F088DE4-480C-0E40-BD88-953FAC616E5E}" type="pres">
      <dgm:prSet presAssocID="{E72C23B9-9FAB-6F47-9955-D720560CA21D}" presName="parentTextArrow" presStyleLbl="node1" presStyleIdx="1" presStyleCnt="4"/>
      <dgm:spPr/>
    </dgm:pt>
    <dgm:pt modelId="{781D5F2B-E15C-2243-9B74-86616A2BD274}" type="pres">
      <dgm:prSet presAssocID="{936EEA86-B771-0B44-A3CA-007B48333CCC}" presName="sp" presStyleCnt="0"/>
      <dgm:spPr/>
    </dgm:pt>
    <dgm:pt modelId="{BD0CD3B8-B392-1643-B8C7-A4275F570DF1}" type="pres">
      <dgm:prSet presAssocID="{BC15BB7C-8AAE-9D47-BA26-879EC672C4EE}" presName="arrowAndChildren" presStyleCnt="0"/>
      <dgm:spPr/>
    </dgm:pt>
    <dgm:pt modelId="{4E09BDE9-070B-5547-B948-584A5D8000B0}" type="pres">
      <dgm:prSet presAssocID="{BC15BB7C-8AAE-9D47-BA26-879EC672C4EE}" presName="parentTextArrow" presStyleLbl="node1" presStyleIdx="2" presStyleCnt="4"/>
      <dgm:spPr/>
    </dgm:pt>
    <dgm:pt modelId="{00265BFB-8812-3546-BE6F-E5893EB8B0A6}" type="pres">
      <dgm:prSet presAssocID="{E63192D5-C264-2D47-99C4-D9E563ABBAD1}" presName="sp" presStyleCnt="0"/>
      <dgm:spPr/>
    </dgm:pt>
    <dgm:pt modelId="{26AA978C-2EC3-8840-8C13-6CD8FFB94133}" type="pres">
      <dgm:prSet presAssocID="{441FD67E-8974-9C4E-B6BA-1CFDDCCE5741}" presName="arrowAndChildren" presStyleCnt="0"/>
      <dgm:spPr/>
    </dgm:pt>
    <dgm:pt modelId="{2CD9C73C-1A98-264B-816B-7FA559A8C136}" type="pres">
      <dgm:prSet presAssocID="{441FD67E-8974-9C4E-B6BA-1CFDDCCE5741}" presName="parentTextArrow" presStyleLbl="node1" presStyleIdx="3" presStyleCnt="4"/>
      <dgm:spPr/>
    </dgm:pt>
  </dgm:ptLst>
  <dgm:cxnLst>
    <dgm:cxn modelId="{6D915A00-03C4-0A4F-986D-5226FFF33509}" type="presOf" srcId="{441FD67E-8974-9C4E-B6BA-1CFDDCCE5741}" destId="{2CD9C73C-1A98-264B-816B-7FA559A8C136}" srcOrd="0" destOrd="0" presId="urn:microsoft.com/office/officeart/2005/8/layout/process4"/>
    <dgm:cxn modelId="{2BB99209-D22B-0247-9387-44D409C2B381}" srcId="{D9AAFA0E-A547-414B-9EBC-D764468FCDB6}" destId="{A522EEEC-7247-9D44-8512-6B605A7F3097}" srcOrd="3" destOrd="0" parTransId="{E6DAE758-8F20-6F45-9D7E-55D3EB0E86FB}" sibTransId="{257B639F-3441-8046-917E-62B981FD595F}"/>
    <dgm:cxn modelId="{EB219223-979C-4F48-BEBA-75F951FD38AE}" srcId="{D9AAFA0E-A547-414B-9EBC-D764468FCDB6}" destId="{441FD67E-8974-9C4E-B6BA-1CFDDCCE5741}" srcOrd="0" destOrd="0" parTransId="{1CA8BEA7-2C66-6B4E-A529-904E5269FCE3}" sibTransId="{E63192D5-C264-2D47-99C4-D9E563ABBAD1}"/>
    <dgm:cxn modelId="{BEEFC937-4D98-7348-9B29-E9F0DF61CD9D}" srcId="{D9AAFA0E-A547-414B-9EBC-D764468FCDB6}" destId="{E72C23B9-9FAB-6F47-9955-D720560CA21D}" srcOrd="2" destOrd="0" parTransId="{90A0E0DF-5D8B-D24E-BB09-5ED70BFFEA57}" sibTransId="{DF14D870-A95F-3C4A-91B8-C57983B7F0E6}"/>
    <dgm:cxn modelId="{06B97750-913C-6D49-B0F8-5199ACD90F44}" type="presOf" srcId="{A522EEEC-7247-9D44-8512-6B605A7F3097}" destId="{6EFD9445-D68C-7E48-A6A5-10505BF60ABC}" srcOrd="0" destOrd="0" presId="urn:microsoft.com/office/officeart/2005/8/layout/process4"/>
    <dgm:cxn modelId="{96668E5D-D94A-1146-BCA8-8D388D85384C}" type="presOf" srcId="{D9AAFA0E-A547-414B-9EBC-D764468FCDB6}" destId="{9ACF1CC7-64AD-A042-8D3E-296E5427ED4B}" srcOrd="0" destOrd="0" presId="urn:microsoft.com/office/officeart/2005/8/layout/process4"/>
    <dgm:cxn modelId="{8537F196-A15C-6541-920D-29EA3961203F}" type="presOf" srcId="{E72C23B9-9FAB-6F47-9955-D720560CA21D}" destId="{0F088DE4-480C-0E40-BD88-953FAC616E5E}" srcOrd="0" destOrd="0" presId="urn:microsoft.com/office/officeart/2005/8/layout/process4"/>
    <dgm:cxn modelId="{03BEF5A6-A418-E74D-80D7-3E28DCF5C876}" srcId="{D9AAFA0E-A547-414B-9EBC-D764468FCDB6}" destId="{BC15BB7C-8AAE-9D47-BA26-879EC672C4EE}" srcOrd="1" destOrd="0" parTransId="{CF66E03E-66C7-0246-89B0-20D0BDF3EC32}" sibTransId="{936EEA86-B771-0B44-A3CA-007B48333CCC}"/>
    <dgm:cxn modelId="{9EB9D3AD-88E9-024C-9C74-A3B84B6FB49E}" type="presOf" srcId="{BC15BB7C-8AAE-9D47-BA26-879EC672C4EE}" destId="{4E09BDE9-070B-5547-B948-584A5D8000B0}" srcOrd="0" destOrd="0" presId="urn:microsoft.com/office/officeart/2005/8/layout/process4"/>
    <dgm:cxn modelId="{16869950-F161-1542-83A8-89183DFD03DC}" type="presParOf" srcId="{9ACF1CC7-64AD-A042-8D3E-296E5427ED4B}" destId="{087541DE-D6D8-4E49-9880-738E6898C9FB}" srcOrd="0" destOrd="0" presId="urn:microsoft.com/office/officeart/2005/8/layout/process4"/>
    <dgm:cxn modelId="{E5813BCD-1F75-AE4A-BDF3-CF71F5C558BE}" type="presParOf" srcId="{087541DE-D6D8-4E49-9880-738E6898C9FB}" destId="{6EFD9445-D68C-7E48-A6A5-10505BF60ABC}" srcOrd="0" destOrd="0" presId="urn:microsoft.com/office/officeart/2005/8/layout/process4"/>
    <dgm:cxn modelId="{F0D3E20F-BD17-604F-8E5F-CA651098DC9A}" type="presParOf" srcId="{9ACF1CC7-64AD-A042-8D3E-296E5427ED4B}" destId="{84B1DD93-F127-1346-AD1B-FA0FE0FE3BB1}" srcOrd="1" destOrd="0" presId="urn:microsoft.com/office/officeart/2005/8/layout/process4"/>
    <dgm:cxn modelId="{395287A4-7571-BD4A-BB6B-B6CDB381665C}" type="presParOf" srcId="{9ACF1CC7-64AD-A042-8D3E-296E5427ED4B}" destId="{675EA930-EF8D-1047-9AC1-27ED9CE83604}" srcOrd="2" destOrd="0" presId="urn:microsoft.com/office/officeart/2005/8/layout/process4"/>
    <dgm:cxn modelId="{5FBCAF44-0F94-7144-B402-FC4A263554F4}" type="presParOf" srcId="{675EA930-EF8D-1047-9AC1-27ED9CE83604}" destId="{0F088DE4-480C-0E40-BD88-953FAC616E5E}" srcOrd="0" destOrd="0" presId="urn:microsoft.com/office/officeart/2005/8/layout/process4"/>
    <dgm:cxn modelId="{4B737903-B6B3-0644-83B0-B75A3660EF09}" type="presParOf" srcId="{9ACF1CC7-64AD-A042-8D3E-296E5427ED4B}" destId="{781D5F2B-E15C-2243-9B74-86616A2BD274}" srcOrd="3" destOrd="0" presId="urn:microsoft.com/office/officeart/2005/8/layout/process4"/>
    <dgm:cxn modelId="{264C940E-B293-904B-B4DE-38B757E476E5}" type="presParOf" srcId="{9ACF1CC7-64AD-A042-8D3E-296E5427ED4B}" destId="{BD0CD3B8-B392-1643-B8C7-A4275F570DF1}" srcOrd="4" destOrd="0" presId="urn:microsoft.com/office/officeart/2005/8/layout/process4"/>
    <dgm:cxn modelId="{753F9354-2C89-7C40-92B8-4FB8222337A9}" type="presParOf" srcId="{BD0CD3B8-B392-1643-B8C7-A4275F570DF1}" destId="{4E09BDE9-070B-5547-B948-584A5D8000B0}" srcOrd="0" destOrd="0" presId="urn:microsoft.com/office/officeart/2005/8/layout/process4"/>
    <dgm:cxn modelId="{AF48F3DE-005E-F74B-AC7B-2B46F4FFF15C}" type="presParOf" srcId="{9ACF1CC7-64AD-A042-8D3E-296E5427ED4B}" destId="{00265BFB-8812-3546-BE6F-E5893EB8B0A6}" srcOrd="5" destOrd="0" presId="urn:microsoft.com/office/officeart/2005/8/layout/process4"/>
    <dgm:cxn modelId="{2AE762F4-8740-224B-B8A1-099023FF2991}" type="presParOf" srcId="{9ACF1CC7-64AD-A042-8D3E-296E5427ED4B}" destId="{26AA978C-2EC3-8840-8C13-6CD8FFB94133}" srcOrd="6" destOrd="0" presId="urn:microsoft.com/office/officeart/2005/8/layout/process4"/>
    <dgm:cxn modelId="{5FEEA16E-A2C8-3844-B26A-9E288C08207B}" type="presParOf" srcId="{26AA978C-2EC3-8840-8C13-6CD8FFB94133}" destId="{2CD9C73C-1A98-264B-816B-7FA559A8C13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2AE31E-30E4-3E4A-BA93-B3335CB8511C}">
      <dsp:nvSpPr>
        <dsp:cNvPr id="0" name=""/>
        <dsp:cNvSpPr/>
      </dsp:nvSpPr>
      <dsp:spPr>
        <a:xfrm>
          <a:off x="0" y="1162893"/>
          <a:ext cx="3391792" cy="20350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300" kern="1200" dirty="0"/>
            <a:t>PRODUCCIÓN</a:t>
          </a:r>
        </a:p>
      </dsp:txBody>
      <dsp:txXfrm>
        <a:off x="0" y="1162893"/>
        <a:ext cx="3391792" cy="2035075"/>
      </dsp:txXfrm>
    </dsp:sp>
    <dsp:sp modelId="{D2F92BEE-55E7-1C4B-946C-DF26850ECA2F}">
      <dsp:nvSpPr>
        <dsp:cNvPr id="0" name=""/>
        <dsp:cNvSpPr/>
      </dsp:nvSpPr>
      <dsp:spPr>
        <a:xfrm>
          <a:off x="3730972" y="1162893"/>
          <a:ext cx="3391792" cy="2035075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300" kern="1200" dirty="0"/>
            <a:t>PRODUCTO</a:t>
          </a:r>
        </a:p>
      </dsp:txBody>
      <dsp:txXfrm>
        <a:off x="3730972" y="1162893"/>
        <a:ext cx="3391792" cy="2035075"/>
      </dsp:txXfrm>
    </dsp:sp>
    <dsp:sp modelId="{3C57D3C0-F601-D844-859A-3C44A87F3051}">
      <dsp:nvSpPr>
        <dsp:cNvPr id="0" name=""/>
        <dsp:cNvSpPr/>
      </dsp:nvSpPr>
      <dsp:spPr>
        <a:xfrm>
          <a:off x="7461944" y="1162893"/>
          <a:ext cx="3391792" cy="2035075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300" kern="1200" dirty="0"/>
            <a:t>SERVICIOS</a:t>
          </a:r>
        </a:p>
      </dsp:txBody>
      <dsp:txXfrm>
        <a:off x="7461944" y="1162893"/>
        <a:ext cx="3391792" cy="20350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0B0839-AAC0-EE43-9CAA-18DABE5E128D}">
      <dsp:nvSpPr>
        <dsp:cNvPr id="0" name=""/>
        <dsp:cNvSpPr/>
      </dsp:nvSpPr>
      <dsp:spPr>
        <a:xfrm rot="16200000">
          <a:off x="2251" y="1688"/>
          <a:ext cx="4578148" cy="4578148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/>
            <a:t>Las tecnologías ambientales convencionales se enfocan en </a:t>
          </a:r>
          <a:r>
            <a:rPr lang="es-AR" sz="2000" i="1" kern="1200">
              <a:solidFill>
                <a:srgbClr val="FF0000"/>
              </a:solidFill>
            </a:rPr>
            <a:t>dar soluciones a los impactos al final del proceso</a:t>
          </a:r>
          <a:r>
            <a:rPr lang="es-AR" sz="2000" kern="1200"/>
            <a:t> de producción “al final del tubo’ “End of the pipe” </a:t>
          </a:r>
          <a:endParaRPr lang="es-AR" sz="2000" kern="1200" dirty="0"/>
        </a:p>
      </dsp:txBody>
      <dsp:txXfrm rot="5400000">
        <a:off x="2251" y="1146225"/>
        <a:ext cx="3776972" cy="2289074"/>
      </dsp:txXfrm>
    </dsp:sp>
    <dsp:sp modelId="{6B9A2089-419E-1647-97C5-BBF218818C72}">
      <dsp:nvSpPr>
        <dsp:cNvPr id="0" name=""/>
        <dsp:cNvSpPr/>
      </dsp:nvSpPr>
      <dsp:spPr>
        <a:xfrm rot="5400000">
          <a:off x="6411450" y="1367"/>
          <a:ext cx="4578148" cy="4578789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/>
            <a:t>La PML tiene como propósito integrar los objetivos ambientales </a:t>
          </a:r>
          <a:r>
            <a:rPr lang="es-AR" sz="2000" i="1" kern="1200" dirty="0">
              <a:solidFill>
                <a:srgbClr val="FF0000"/>
              </a:solidFill>
            </a:rPr>
            <a:t>en el proceso </a:t>
          </a:r>
          <a:r>
            <a:rPr lang="es-AR" sz="2000" kern="1200" dirty="0"/>
            <a:t>de producción para reducir desechos y emisiones en lo que se refiere a la cantidad y toxicidad y así reducir los costos. </a:t>
          </a:r>
          <a:endParaRPr lang="es-MX" sz="2000" kern="1200" dirty="0"/>
        </a:p>
      </dsp:txBody>
      <dsp:txXfrm rot="-5400000">
        <a:off x="7212306" y="1146224"/>
        <a:ext cx="3777613" cy="22890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FE61C1-9566-7145-A876-3CDE251483C4}">
      <dsp:nvSpPr>
        <dsp:cNvPr id="0" name=""/>
        <dsp:cNvSpPr/>
      </dsp:nvSpPr>
      <dsp:spPr>
        <a:xfrm>
          <a:off x="1561429" y="1345596"/>
          <a:ext cx="3134923" cy="25856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40005" rIns="40005" bIns="40005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2100" kern="1200"/>
            <a:t>¿Qué podemos hacer con los desechos y emisiones existentes?  </a:t>
          </a:r>
        </a:p>
      </dsp:txBody>
      <dsp:txXfrm>
        <a:off x="1620932" y="1405099"/>
        <a:ext cx="3015917" cy="1912581"/>
      </dsp:txXfrm>
    </dsp:sp>
    <dsp:sp modelId="{F79EC0FD-C398-ED4B-A825-4BA09649B262}">
      <dsp:nvSpPr>
        <dsp:cNvPr id="0" name=""/>
        <dsp:cNvSpPr/>
      </dsp:nvSpPr>
      <dsp:spPr>
        <a:xfrm>
          <a:off x="3319630" y="1948691"/>
          <a:ext cx="3476042" cy="3476042"/>
        </a:xfrm>
        <a:prstGeom prst="leftCircularArrow">
          <a:avLst>
            <a:gd name="adj1" fmla="val 3208"/>
            <a:gd name="adj2" fmla="val 395297"/>
            <a:gd name="adj3" fmla="val 2170808"/>
            <a:gd name="adj4" fmla="val 9024489"/>
            <a:gd name="adj5" fmla="val 37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DAA0C1-2132-8D4A-B8E0-31A19DC208D5}">
      <dsp:nvSpPr>
        <dsp:cNvPr id="0" name=""/>
        <dsp:cNvSpPr/>
      </dsp:nvSpPr>
      <dsp:spPr>
        <a:xfrm>
          <a:off x="2258079" y="3377184"/>
          <a:ext cx="2786598" cy="11081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/>
            <a:t>Mientras la gestión convencional de desechos pregunta:   </a:t>
          </a:r>
        </a:p>
      </dsp:txBody>
      <dsp:txXfrm>
        <a:off x="2290535" y="3409640"/>
        <a:ext cx="2721686" cy="1043226"/>
      </dsp:txXfrm>
    </dsp:sp>
    <dsp:sp modelId="{42C0CB7D-986B-F645-85A3-385BFBC85C05}">
      <dsp:nvSpPr>
        <dsp:cNvPr id="0" name=""/>
        <dsp:cNvSpPr/>
      </dsp:nvSpPr>
      <dsp:spPr>
        <a:xfrm>
          <a:off x="5575696" y="1345596"/>
          <a:ext cx="3134923" cy="25856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40005" rIns="40005" bIns="40005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2100" kern="1200" dirty="0"/>
            <a:t>¿De dónde provienen nuestros desechos y emisiones?  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2100" kern="1200"/>
            <a:t>¿Por qué se han convertido en desechos? </a:t>
          </a:r>
        </a:p>
      </dsp:txBody>
      <dsp:txXfrm>
        <a:off x="5635199" y="1959169"/>
        <a:ext cx="3015917" cy="1912581"/>
      </dsp:txXfrm>
    </dsp:sp>
    <dsp:sp modelId="{04B90FE5-2FBF-B040-B06F-81B8CEA8EE76}">
      <dsp:nvSpPr>
        <dsp:cNvPr id="0" name=""/>
        <dsp:cNvSpPr/>
      </dsp:nvSpPr>
      <dsp:spPr>
        <a:xfrm>
          <a:off x="6272346" y="791527"/>
          <a:ext cx="2786598" cy="11081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/>
            <a:t>La PML, la protección ambiental integrada a la producción pregunta:  </a:t>
          </a:r>
        </a:p>
      </dsp:txBody>
      <dsp:txXfrm>
        <a:off x="6304802" y="823983"/>
        <a:ext cx="2721686" cy="10432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449BDB-BA2D-FB48-9AF7-7EA31C5EBFBE}">
      <dsp:nvSpPr>
        <dsp:cNvPr id="0" name=""/>
        <dsp:cNvSpPr/>
      </dsp:nvSpPr>
      <dsp:spPr>
        <a:xfrm>
          <a:off x="0" y="5159376"/>
          <a:ext cx="12192000" cy="8464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kern="1200" dirty="0">
              <a:solidFill>
                <a:schemeClr val="tx1"/>
              </a:solidFill>
            </a:rPr>
            <a:t>El PNUMA lo llamó Producción Más Limpia (PML) o </a:t>
          </a:r>
          <a:r>
            <a:rPr lang="es-AR" sz="1800" i="1" kern="1200" dirty="0" err="1">
              <a:solidFill>
                <a:schemeClr val="tx1"/>
              </a:solidFill>
            </a:rPr>
            <a:t>Cleaner</a:t>
          </a:r>
          <a:r>
            <a:rPr lang="es-AR" sz="1800" i="1" kern="1200" dirty="0">
              <a:solidFill>
                <a:schemeClr val="tx1"/>
              </a:solidFill>
            </a:rPr>
            <a:t> </a:t>
          </a:r>
          <a:r>
            <a:rPr lang="es-AR" sz="1800" i="1" kern="1200" dirty="0" err="1">
              <a:solidFill>
                <a:schemeClr val="tx1"/>
              </a:solidFill>
            </a:rPr>
            <a:t>Production</a:t>
          </a:r>
          <a:r>
            <a:rPr lang="es-AR" sz="1800" i="1" kern="1200" dirty="0">
              <a:solidFill>
                <a:schemeClr val="tx1"/>
              </a:solidFill>
            </a:rPr>
            <a:t> </a:t>
          </a:r>
          <a:r>
            <a:rPr lang="es-AR" sz="1800" kern="1200" dirty="0">
              <a:solidFill>
                <a:schemeClr val="tx1"/>
              </a:solidFill>
            </a:rPr>
            <a:t>(CP), y se convirtió en la autoridad ambiental líder en el mundo, encargada de promover su aplicación (</a:t>
          </a:r>
          <a:r>
            <a:rPr lang="es-AR" sz="1800" kern="1200" dirty="0" err="1">
              <a:solidFill>
                <a:schemeClr val="tx1"/>
              </a:solidFill>
            </a:rPr>
            <a:t>Scafati</a:t>
          </a:r>
          <a:r>
            <a:rPr lang="es-AR" sz="1800" kern="1200" dirty="0">
              <a:solidFill>
                <a:schemeClr val="tx1"/>
              </a:solidFill>
            </a:rPr>
            <a:t>, 2009). </a:t>
          </a:r>
        </a:p>
      </dsp:txBody>
      <dsp:txXfrm>
        <a:off x="0" y="5159376"/>
        <a:ext cx="12192000" cy="846438"/>
      </dsp:txXfrm>
    </dsp:sp>
    <dsp:sp modelId="{6C38B421-6FD8-A94F-ABA8-BAA71DC4FD16}">
      <dsp:nvSpPr>
        <dsp:cNvPr id="0" name=""/>
        <dsp:cNvSpPr/>
      </dsp:nvSpPr>
      <dsp:spPr>
        <a:xfrm rot="10800000">
          <a:off x="0" y="3870250"/>
          <a:ext cx="12192000" cy="1301822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kern="1200">
              <a:solidFill>
                <a:schemeClr val="tx1"/>
              </a:solidFill>
            </a:rPr>
            <a:t>Planteando que la contaminación generada por las industrias debía ser abordada a través de la mejora continua de las diferentes etapas del proceso productivo; con lo cual, no solo se reduciría la contaminación, sino que también aumentaría la eficiencia del proceso (Varela, 2003b). </a:t>
          </a:r>
        </a:p>
      </dsp:txBody>
      <dsp:txXfrm rot="10800000">
        <a:off x="0" y="3870250"/>
        <a:ext cx="12192000" cy="845885"/>
      </dsp:txXfrm>
    </dsp:sp>
    <dsp:sp modelId="{E61EA998-2BBD-C746-852A-F68B6C49ACC0}">
      <dsp:nvSpPr>
        <dsp:cNvPr id="0" name=""/>
        <dsp:cNvSpPr/>
      </dsp:nvSpPr>
      <dsp:spPr>
        <a:xfrm rot="10800000">
          <a:off x="0" y="2581124"/>
          <a:ext cx="12192000" cy="1301822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kern="1200">
              <a:solidFill>
                <a:schemeClr val="tx1"/>
              </a:solidFill>
            </a:rPr>
            <a:t>Posteriormente, en la Cumbre Mundial sobre Desarrollo Sustentable de Johannesburgo (2002), en uno de los objetivos del plan de acción se plasmó la necesidad de modificar las prácticas de producción y consumo no sustentables, mediante la inversión en programas de PML y ecoeficiencia por parte de las industrias. </a:t>
          </a:r>
        </a:p>
      </dsp:txBody>
      <dsp:txXfrm rot="10800000">
        <a:off x="0" y="2581124"/>
        <a:ext cx="12192000" cy="845885"/>
      </dsp:txXfrm>
    </dsp:sp>
    <dsp:sp modelId="{EBC0F978-E4C4-3F44-9FEB-1ADB70F855B4}">
      <dsp:nvSpPr>
        <dsp:cNvPr id="0" name=""/>
        <dsp:cNvSpPr/>
      </dsp:nvSpPr>
      <dsp:spPr>
        <a:xfrm rot="10800000">
          <a:off x="0" y="1291998"/>
          <a:ext cx="12192000" cy="1301822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kern="1200" dirty="0">
              <a:solidFill>
                <a:schemeClr val="tx1"/>
              </a:solidFill>
            </a:rPr>
            <a:t>En Europa, el Programa de las Naciones Unidas para el Ambiente - PNUMA a través de la </a:t>
          </a:r>
          <a:r>
            <a:rPr lang="es-AR" sz="1800" kern="1200" dirty="0" err="1">
              <a:solidFill>
                <a:schemeClr val="tx1"/>
              </a:solidFill>
            </a:rPr>
            <a:t>División</a:t>
          </a:r>
          <a:r>
            <a:rPr lang="es-AR" sz="1800" kern="1200" dirty="0">
              <a:solidFill>
                <a:schemeClr val="tx1"/>
              </a:solidFill>
            </a:rPr>
            <a:t> de Tecnología Industria y Medioambiente de París, reconoció problemas similares y enfatizó principalmente en la necesidad de prevenir la contaminación. </a:t>
          </a:r>
        </a:p>
      </dsp:txBody>
      <dsp:txXfrm rot="10800000">
        <a:off x="0" y="1291998"/>
        <a:ext cx="12192000" cy="845885"/>
      </dsp:txXfrm>
    </dsp:sp>
    <dsp:sp modelId="{15C92CF4-CD35-E046-A0FB-54CFD17E9E98}">
      <dsp:nvSpPr>
        <dsp:cNvPr id="0" name=""/>
        <dsp:cNvSpPr/>
      </dsp:nvSpPr>
      <dsp:spPr>
        <a:xfrm rot="10800000">
          <a:off x="0" y="2872"/>
          <a:ext cx="12192000" cy="1301822"/>
        </a:xfrm>
        <a:prstGeom prst="upArrowCallou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kern="1200" dirty="0">
              <a:solidFill>
                <a:schemeClr val="tx1"/>
              </a:solidFill>
            </a:rPr>
            <a:t>En Estados Unidos estas nuevas ideas y métodos fueron formalizados a través de la incorporación de un programa de la Agencia de Protección Ambiental de los Estados Unidos (EPA) llamado “Prevención de la polución” (</a:t>
          </a:r>
          <a:r>
            <a:rPr lang="es-AR" sz="1800" i="1" kern="1200" dirty="0" err="1">
              <a:solidFill>
                <a:schemeClr val="tx1"/>
              </a:solidFill>
            </a:rPr>
            <a:t>Pollution</a:t>
          </a:r>
          <a:r>
            <a:rPr lang="es-AR" sz="1800" i="1" kern="1200" dirty="0">
              <a:solidFill>
                <a:schemeClr val="tx1"/>
              </a:solidFill>
            </a:rPr>
            <a:t> </a:t>
          </a:r>
          <a:r>
            <a:rPr lang="es-AR" sz="1800" i="1" kern="1200" dirty="0" err="1">
              <a:solidFill>
                <a:schemeClr val="tx1"/>
              </a:solidFill>
            </a:rPr>
            <a:t>Prevention</a:t>
          </a:r>
          <a:r>
            <a:rPr lang="es-AR" sz="1800" kern="1200" dirty="0">
              <a:solidFill>
                <a:schemeClr val="tx1"/>
              </a:solidFill>
            </a:rPr>
            <a:t>) o P2, el cual fue aprobado por el Senado mediante un acta en el año de 1990. </a:t>
          </a:r>
        </a:p>
      </dsp:txBody>
      <dsp:txXfrm rot="10800000">
        <a:off x="0" y="2872"/>
        <a:ext cx="12192000" cy="8458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FD9445-D68C-7E48-A6A5-10505BF60ABC}">
      <dsp:nvSpPr>
        <dsp:cNvPr id="0" name=""/>
        <dsp:cNvSpPr/>
      </dsp:nvSpPr>
      <dsp:spPr>
        <a:xfrm>
          <a:off x="0" y="4585974"/>
          <a:ext cx="11072813" cy="100329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solidFill>
                <a:srgbClr val="FF0000"/>
              </a:solidFill>
            </a:rPr>
            <a:t>Elevar la eficiencia en el uso de los recursos y fortalecer el concepto de la administración responsable en la gestión ambiental y uso de los recursos por la empresa.</a:t>
          </a:r>
          <a:r>
            <a:rPr lang="es-AR" sz="2000" kern="1200" dirty="0"/>
            <a:t> </a:t>
          </a:r>
        </a:p>
      </dsp:txBody>
      <dsp:txXfrm>
        <a:off x="0" y="4585974"/>
        <a:ext cx="11072813" cy="1003299"/>
      </dsp:txXfrm>
    </dsp:sp>
    <dsp:sp modelId="{0F088DE4-480C-0E40-BD88-953FAC616E5E}">
      <dsp:nvSpPr>
        <dsp:cNvPr id="0" name=""/>
        <dsp:cNvSpPr/>
      </dsp:nvSpPr>
      <dsp:spPr>
        <a:xfrm rot="10800000">
          <a:off x="0" y="3057950"/>
          <a:ext cx="11072813" cy="1543074"/>
        </a:xfrm>
        <a:prstGeom prst="upArrowCallout">
          <a:avLst/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/>
            <a:t>El Programa Nacional de Medio Ambiente y Desarrollo, que constituye la adecuación de la Agenda 21, dedica el capítulo 18 a la PML y define como sus objetivos los siguientes: </a:t>
          </a:r>
        </a:p>
      </dsp:txBody>
      <dsp:txXfrm rot="10800000">
        <a:off x="0" y="3057950"/>
        <a:ext cx="11072813" cy="1002643"/>
      </dsp:txXfrm>
    </dsp:sp>
    <dsp:sp modelId="{4E09BDE9-070B-5547-B948-584A5D8000B0}">
      <dsp:nvSpPr>
        <dsp:cNvPr id="0" name=""/>
        <dsp:cNvSpPr/>
      </dsp:nvSpPr>
      <dsp:spPr>
        <a:xfrm rot="10800000">
          <a:off x="0" y="1529925"/>
          <a:ext cx="11072813" cy="1543074"/>
        </a:xfrm>
        <a:prstGeom prst="upArrowCallout">
          <a:avLst/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/>
            <a:t>Considerando la idea de incorporar la reducción de la contaminación al proceso de producción, e inclusive a las etapas concernientes a la planeación y diseño del producto, revisión y modificación de los procesos (Varsavsky, s.f.). </a:t>
          </a:r>
        </a:p>
      </dsp:txBody>
      <dsp:txXfrm rot="10800000">
        <a:off x="0" y="1529925"/>
        <a:ext cx="11072813" cy="1002643"/>
      </dsp:txXfrm>
    </dsp:sp>
    <dsp:sp modelId="{2CD9C73C-1A98-264B-816B-7FA559A8C136}">
      <dsp:nvSpPr>
        <dsp:cNvPr id="0" name=""/>
        <dsp:cNvSpPr/>
      </dsp:nvSpPr>
      <dsp:spPr>
        <a:xfrm rot="10800000">
          <a:off x="0" y="1900"/>
          <a:ext cx="11072813" cy="1543074"/>
        </a:xfrm>
        <a:prstGeom prst="upArrowCallou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/>
            <a:t>La declaración internacional sobre PML considera, que la PML y otras estrategias preventivas como la </a:t>
          </a:r>
          <a:r>
            <a:rPr lang="es-AR" sz="2000" i="1" kern="1200"/>
            <a:t>Ecoeficiencia, </a:t>
          </a:r>
          <a:r>
            <a:rPr lang="es-AR" sz="2000" kern="1200"/>
            <a:t>la </a:t>
          </a:r>
          <a:r>
            <a:rPr lang="es-AR" sz="2000" i="1" kern="1200"/>
            <a:t>Productividad Ecológica </a:t>
          </a:r>
          <a:r>
            <a:rPr lang="es-AR" sz="2000" kern="1200"/>
            <a:t>y la </a:t>
          </a:r>
          <a:r>
            <a:rPr lang="es-AR" sz="2000" i="1" kern="1200"/>
            <a:t>Prevención de la Contaminación</a:t>
          </a:r>
          <a:r>
            <a:rPr lang="es-AR" sz="2000" kern="1200"/>
            <a:t>, son las opciones adecuadas para estos fines (Álvarez y Arias, 2009). </a:t>
          </a:r>
        </a:p>
      </dsp:txBody>
      <dsp:txXfrm rot="10800000">
        <a:off x="0" y="1900"/>
        <a:ext cx="11072813" cy="10026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0D206-4376-03FF-3995-A743BFE34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FE3D00-7F5D-8A17-D261-9C6AADDBC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863211-F9B0-5FC0-CFCE-8F81E076F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7EBC-2668-AF42-9D6B-905F3F9943B5}" type="datetimeFigureOut">
              <a:rPr lang="es-AR" smtClean="0"/>
              <a:t>3/9/25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F0652E-0E8F-0828-5DB3-522EFFEF9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D20CA9-657B-C32A-F17D-022743E46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F420-F11C-0947-B42C-AA64A4285A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97630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863030-2093-DA3E-C657-78475C447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F3B71A-6015-E969-CCB6-6A855AF4A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0DA62A-E6C9-1548-E692-4F3C9BE5C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7EBC-2668-AF42-9D6B-905F3F9943B5}" type="datetimeFigureOut">
              <a:rPr lang="es-AR" smtClean="0"/>
              <a:t>3/9/25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086325-6344-69B1-1B2D-468563546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0FE3FF-74AA-2A62-1FD7-7D3FD8A39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F420-F11C-0947-B42C-AA64A4285A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57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624680-2F6C-2069-09C3-2B964EF5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0785C5-625B-A811-7166-BF17FB437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AA940E-0CFB-12E2-CA69-6403A326F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7EBC-2668-AF42-9D6B-905F3F9943B5}" type="datetimeFigureOut">
              <a:rPr lang="es-AR" smtClean="0"/>
              <a:t>3/9/25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24D548-9A03-ECEF-0080-2315FCD71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961D30-E882-F090-DADF-6674E66E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F420-F11C-0947-B42C-AA64A4285A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48986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DA04E-B4E8-9DCE-B085-14EE85843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61E82D-798A-E754-6F1E-CD882A5BCB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8C38E1-85BE-FB29-6872-7C43C42D5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9DA7F4-8E89-3837-30D4-ADFB905BF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7EBC-2668-AF42-9D6B-905F3F9943B5}" type="datetimeFigureOut">
              <a:rPr lang="es-AR" smtClean="0"/>
              <a:t>3/9/25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CD6BCA-6FE3-1671-5202-815305CB1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E9CE20-D489-C059-1933-85AABE0B0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F420-F11C-0947-B42C-AA64A4285A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452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86CF35-5A71-FAC8-85E0-1D60A83E3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40A2B7-7838-5FEB-1CB1-ECA7C8960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475C4A3-F742-C4F8-0C56-BD62F8047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8CFB158-919D-8CB1-1C6C-077C464C6A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7DF5228-105F-9234-5151-C447AFAF03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FB54D54-4BF8-523B-F26E-0C10E931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7EBC-2668-AF42-9D6B-905F3F9943B5}" type="datetimeFigureOut">
              <a:rPr lang="es-AR" smtClean="0"/>
              <a:t>3/9/25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0592766-DFC4-C9DB-8856-4A4945551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6A025BE-739C-3762-CA6F-B850EB4A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F420-F11C-0947-B42C-AA64A4285A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80106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010672-D8DC-AF6D-5C88-5E53A6EB9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1DB7DAA-5A3D-3BF6-8BA2-21F825C7B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7EBC-2668-AF42-9D6B-905F3F9943B5}" type="datetimeFigureOut">
              <a:rPr lang="es-AR" smtClean="0"/>
              <a:t>3/9/25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2133D15-5E36-F82C-5873-23C70D2ED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8050271-E8E8-51A4-427F-27919289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F420-F11C-0947-B42C-AA64A4285A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76695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08F383F-7CCC-0739-68F2-B3C26A214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7EBC-2668-AF42-9D6B-905F3F9943B5}" type="datetimeFigureOut">
              <a:rPr lang="es-AR" smtClean="0"/>
              <a:t>3/9/25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9F3F38C-E631-6195-97FE-840887BBF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E8472D-2CF9-145E-42C1-C19801E4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F420-F11C-0947-B42C-AA64A4285A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33446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BF0582-50B9-F325-A1DD-465895E8F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235CCF-9FB8-DB3D-1A27-E2BCBF7FC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6A1B55-E71D-7946-0AA8-408F544E7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497F98-8F46-A767-087A-6822B829E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7EBC-2668-AF42-9D6B-905F3F9943B5}" type="datetimeFigureOut">
              <a:rPr lang="es-AR" smtClean="0"/>
              <a:t>3/9/25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BA6CB9-90FA-54F9-0010-55B5609A0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E3357E-7F1C-690A-ADCE-30A1D969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F420-F11C-0947-B42C-AA64A4285A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92268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31399C-03E4-1FD7-6330-D11C06B6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66159A-D81B-E023-9FDB-B07FE8F882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E272AAC-13AA-01EE-FBA9-92EA9D02F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621D1B-8699-EC2F-4682-802B22241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7EBC-2668-AF42-9D6B-905F3F9943B5}" type="datetimeFigureOut">
              <a:rPr lang="es-AR" smtClean="0"/>
              <a:t>3/9/25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E07DE1-2FCC-0BF0-772F-F8AF7F486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D847BE-B232-069F-118E-09C11AA88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F420-F11C-0947-B42C-AA64A4285A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69511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218E7E-8789-B920-C9E9-83B384703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E37C4D-7FB6-0FD1-48C0-E5CB96931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FAB38A-61A7-AFA6-7421-64BD17F46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7EBC-2668-AF42-9D6B-905F3F9943B5}" type="datetimeFigureOut">
              <a:rPr lang="es-AR" smtClean="0"/>
              <a:t>3/9/25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075CF3-942F-80B8-F755-E93CB6D33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BAC754-6A79-F8DB-74F6-FB91BCB65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F420-F11C-0947-B42C-AA64A4285A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24278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98F392A-1126-651B-8816-9BEABB1E64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ECDE41-82AD-8AE4-DD66-746D1FDEC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1300E8-8EC3-A89E-2D5E-B89CF43BE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47EBC-2668-AF42-9D6B-905F3F9943B5}" type="datetimeFigureOut">
              <a:rPr lang="es-AR" smtClean="0"/>
              <a:t>3/9/25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ADC430-0BDC-08BD-FFA3-AB642B0B2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AACD50-C439-5195-0DDA-915164C34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F420-F11C-0947-B42C-AA64A4285A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1389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3/09/25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2230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3/09/25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083410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3/09/25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4999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3/09/25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56971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3/09/25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61569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3/09/25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38432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3/09/25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875434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3/09/25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235559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3/09/25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431093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3/09/25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45769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F1B7-E5BE-4380-9EB8-EE8D7492FA4D}" type="datetimeFigureOut">
              <a:rPr lang="es-PE" smtClean="0"/>
              <a:t>3/09/25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867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6D81698-677D-F86B-4585-750A17E25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BDCB3C-7B11-40A8-709D-E250FBCA3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D649F1-FE66-A703-9F01-B775EB6553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47EBC-2668-AF42-9D6B-905F3F9943B5}" type="datetimeFigureOut">
              <a:rPr lang="es-AR" smtClean="0"/>
              <a:t>3/9/25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315427-0CC1-EA51-52FB-6B17763013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9E12A8-C142-5FD2-BA5E-8AF2472C3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5F420-F11C-0947-B42C-AA64A4285A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400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8F1B7-E5BE-4380-9EB8-EE8D7492FA4D}" type="datetimeFigureOut">
              <a:rPr lang="es-PE" smtClean="0"/>
              <a:t>3/09/25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1C2A4-7110-4972-A280-169E031959D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39835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3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0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5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833F37-9CDF-15C3-49BB-64AE26843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13" y="4515052"/>
            <a:ext cx="7257326" cy="1126283"/>
          </a:xfrm>
        </p:spPr>
        <p:txBody>
          <a:bodyPr>
            <a:normAutofit fontScale="90000"/>
          </a:bodyPr>
          <a:lstStyle/>
          <a:p>
            <a:r>
              <a:rPr lang="es-MX" sz="4800" b="1" dirty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TECNOLOGIAS LIMPIAS EN LOS PROCESOS INDUSTRIALES</a:t>
            </a:r>
            <a:endParaRPr lang="es-AR" sz="4800" b="1" dirty="0">
              <a:solidFill>
                <a:schemeClr val="accent1"/>
              </a:solidFill>
              <a:latin typeface="Bernard MT Condensed" panose="02050806060905020404" pitchFamily="18" charset="77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F84A92-7213-7DBF-F669-188ED288AE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148727"/>
            <a:ext cx="8915399" cy="538707"/>
          </a:xfrm>
        </p:spPr>
        <p:txBody>
          <a:bodyPr/>
          <a:lstStyle/>
          <a:p>
            <a:pPr algn="l"/>
            <a:r>
              <a:rPr lang="es-AR" dirty="0" err="1">
                <a:solidFill>
                  <a:schemeClr val="bg1"/>
                </a:solidFill>
              </a:rPr>
              <a:t>Mgt</a:t>
            </a:r>
            <a:r>
              <a:rPr lang="es-AR" dirty="0">
                <a:solidFill>
                  <a:schemeClr val="bg1"/>
                </a:solidFill>
              </a:rPr>
              <a:t>. Ing. </a:t>
            </a:r>
            <a:r>
              <a:rPr lang="es-AR" dirty="0" err="1">
                <a:solidFill>
                  <a:schemeClr val="bg1"/>
                </a:solidFill>
              </a:rPr>
              <a:t>Guisell</a:t>
            </a:r>
            <a:r>
              <a:rPr lang="es-AR" dirty="0">
                <a:solidFill>
                  <a:schemeClr val="bg1"/>
                </a:solidFill>
              </a:rPr>
              <a:t> Aedo Vega Centeno</a:t>
            </a:r>
          </a:p>
        </p:txBody>
      </p:sp>
    </p:spTree>
    <p:extLst>
      <p:ext uri="{BB962C8B-B14F-4D97-AF65-F5344CB8AC3E}">
        <p14:creationId xmlns:p14="http://schemas.microsoft.com/office/powerpoint/2010/main" val="139253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0165C5-25A4-792A-10B2-225C6DE34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590" y="2880360"/>
            <a:ext cx="10515600" cy="1259205"/>
          </a:xfrm>
        </p:spPr>
        <p:txBody>
          <a:bodyPr/>
          <a:lstStyle/>
          <a:p>
            <a:pPr algn="ctr"/>
            <a:r>
              <a:rPr lang="es-AR" b="1" dirty="0"/>
              <a:t>PRODUCCIÓN MAS LIMPIA</a:t>
            </a:r>
          </a:p>
        </p:txBody>
      </p:sp>
    </p:spTree>
    <p:extLst>
      <p:ext uri="{BB962C8B-B14F-4D97-AF65-F5344CB8AC3E}">
        <p14:creationId xmlns:p14="http://schemas.microsoft.com/office/powerpoint/2010/main" val="952406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39C609-0A18-D355-18CC-204C97328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110"/>
            <a:ext cx="10515600" cy="1325563"/>
          </a:xfrm>
        </p:spPr>
        <p:txBody>
          <a:bodyPr/>
          <a:lstStyle/>
          <a:p>
            <a:endParaRPr lang="es-AR"/>
          </a:p>
        </p:txBody>
      </p:sp>
      <p:pic>
        <p:nvPicPr>
          <p:cNvPr id="6146" name="Picture 2" descr="El consumo como base. Todos formamos parte del consumismo que… | by  MªEugenia González | Medium">
            <a:extLst>
              <a:ext uri="{FF2B5EF4-FFF2-40B4-BE49-F238E27FC236}">
                <a16:creationId xmlns:a16="http://schemas.microsoft.com/office/drawing/2014/main" id="{FB2FEDAF-2424-5D33-7126-552DE63B997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462" y="2328863"/>
            <a:ext cx="3793980" cy="2957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24DA43-0004-2A58-3ED2-94B0D7CC0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282950"/>
            <a:ext cx="5181600" cy="10604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AR" dirty="0"/>
              <a:t>El Consumo Humano</a:t>
            </a:r>
          </a:p>
          <a:p>
            <a:pPr marL="0" indent="0">
              <a:buNone/>
            </a:pPr>
            <a:r>
              <a:rPr lang="es-AR" dirty="0"/>
              <a:t>https://</a:t>
            </a:r>
            <a:r>
              <a:rPr lang="es-AR" dirty="0" err="1"/>
              <a:t>www.youtube.com</a:t>
            </a:r>
            <a:r>
              <a:rPr lang="es-AR" dirty="0"/>
              <a:t>/</a:t>
            </a:r>
            <a:r>
              <a:rPr lang="es-AR" dirty="0" err="1"/>
              <a:t>watch?v</a:t>
            </a:r>
            <a:r>
              <a:rPr lang="es-AR" dirty="0"/>
              <a:t>=0JZkanWAvJQ</a:t>
            </a:r>
          </a:p>
        </p:txBody>
      </p:sp>
    </p:spTree>
    <p:extLst>
      <p:ext uri="{BB962C8B-B14F-4D97-AF65-F5344CB8AC3E}">
        <p14:creationId xmlns:p14="http://schemas.microsoft.com/office/powerpoint/2010/main" val="646888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D535F6E-BB09-C3FD-6182-CB50125AB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EBAB6F6D-8E2B-4AFA-8C6C-BB91718B32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4035896"/>
              </p:ext>
            </p:extLst>
          </p:nvPr>
        </p:nvGraphicFramePr>
        <p:xfrm>
          <a:off x="669131" y="1839911"/>
          <a:ext cx="10853737" cy="4360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86871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706B4FC-7AC2-0B38-FA20-E3697A9AC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B6647E-E611-0383-F31F-6F2EB5D969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378075"/>
            <a:ext cx="5181600" cy="32464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dirty="0"/>
              <a:t>En los procesos de producción, la Producción Más Limpia aborda el </a:t>
            </a:r>
            <a:r>
              <a:rPr lang="es-AR" i="1" dirty="0"/>
              <a:t>ahorro de materias primas y energía, la eliminación de materias primas tóxicas y la reducción en cantidades y toxicidad de desechos </a:t>
            </a:r>
            <a:r>
              <a:rPr lang="es-AR" dirty="0"/>
              <a:t>y emisiones.  </a:t>
            </a:r>
          </a:p>
        </p:txBody>
      </p:sp>
      <p:pic>
        <p:nvPicPr>
          <p:cNvPr id="3074" name="Picture 2" descr="Procesos industriales: ¿qué son y cuántos tipos existen?">
            <a:extLst>
              <a:ext uri="{FF2B5EF4-FFF2-40B4-BE49-F238E27FC236}">
                <a16:creationId xmlns:a16="http://schemas.microsoft.com/office/drawing/2014/main" id="{1D52D92C-8E57-1F04-3C77-18C6C4CD815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81750" y="2661444"/>
            <a:ext cx="4762500" cy="267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157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El análisis de ciclo de vida (ACV), clave para un almacenamiento energético  sostenible | CIC energiGUNE">
            <a:extLst>
              <a:ext uri="{FF2B5EF4-FFF2-40B4-BE49-F238E27FC236}">
                <a16:creationId xmlns:a16="http://schemas.microsoft.com/office/drawing/2014/main" id="{7B076388-937D-C750-A0C2-ED8E3E39FF6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3553" y="1825625"/>
            <a:ext cx="463089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341DF5-1A0A-6880-1209-619E2E93D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4" y="2439988"/>
            <a:ext cx="5038725" cy="29035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dirty="0"/>
              <a:t>En el desarrollo y diseño del producto, la Producción Más Limpia aborda la reducción de impactos negativos a lo largo del </a:t>
            </a:r>
            <a:r>
              <a:rPr lang="es-AR" i="1" dirty="0"/>
              <a:t>ciclo de vida del producto</a:t>
            </a:r>
            <a:r>
              <a:rPr lang="es-AR" dirty="0"/>
              <a:t>: desde la extracción de la materia prima hasta la disposición final.  </a:t>
            </a:r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041045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59FA2-BF2C-A99F-1464-DCA962D91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6610BB-8C74-64D6-9749-BB635E1D49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2954338"/>
            <a:ext cx="5181600" cy="17605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dirty="0"/>
              <a:t>En los servicios, la Producción Más Limpia aborda la incorporación de consideraciones ambientales en el diseño y entrega de los servicios. </a:t>
            </a:r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5122" name="Picture 2" descr="Consumo responsable: guía básica para interpretar las ecoetiquetas">
            <a:extLst>
              <a:ext uri="{FF2B5EF4-FFF2-40B4-BE49-F238E27FC236}">
                <a16:creationId xmlns:a16="http://schemas.microsoft.com/office/drawing/2014/main" id="{BBDEF41A-AB34-229D-A1E4-F0C0AF6F9E6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058194"/>
            <a:ext cx="51816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3310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EC9FD-E485-62AE-2091-E7C47A781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1509"/>
          </a:xfrm>
        </p:spPr>
        <p:txBody>
          <a:bodyPr>
            <a:normAutofit/>
          </a:bodyPr>
          <a:lstStyle/>
          <a:p>
            <a:pPr algn="ctr"/>
            <a:r>
              <a:rPr lang="es-AR" sz="3600" b="1" dirty="0">
                <a:solidFill>
                  <a:schemeClr val="accent1"/>
                </a:solidFill>
              </a:rPr>
              <a:t>¿Producción Más Limpia versus Final del Tubo?   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3D499C9C-F327-17DE-9241-126E46468F9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54274708"/>
              </p:ext>
            </p:extLst>
          </p:nvPr>
        </p:nvGraphicFramePr>
        <p:xfrm>
          <a:off x="838200" y="1690688"/>
          <a:ext cx="10991850" cy="4581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26264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68553AE-39F4-7C20-AED0-AA8DF4531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2050" name="Picture 2" descr="Pollution prevention and end-of-pipe treatment of industrial system. SD...  | Download Scientific Diagram">
            <a:extLst>
              <a:ext uri="{FF2B5EF4-FFF2-40B4-BE49-F238E27FC236}">
                <a16:creationId xmlns:a16="http://schemas.microsoft.com/office/drawing/2014/main" id="{988CF842-FC71-F6DA-4668-C0F08FB481F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711" y="1873490"/>
            <a:ext cx="6257927" cy="3695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2.4 Clean technology - GGS DT">
            <a:extLst>
              <a:ext uri="{FF2B5EF4-FFF2-40B4-BE49-F238E27FC236}">
                <a16:creationId xmlns:a16="http://schemas.microsoft.com/office/drawing/2014/main" id="{AD610CE3-2F81-2D55-9356-9E338A8C5DF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" y="1683147"/>
            <a:ext cx="5181600" cy="388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39280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1C738-5C8E-0DE8-DCC3-56B6E944A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5241"/>
          </a:xfrm>
        </p:spPr>
        <p:txBody>
          <a:bodyPr/>
          <a:lstStyle/>
          <a:p>
            <a:r>
              <a:rPr lang="es-AR" dirty="0"/>
              <a:t>Entre las ventajas se tiene: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9AF4865-0B1F-6EA5-01D6-3D90F48760F8}"/>
              </a:ext>
            </a:extLst>
          </p:cNvPr>
          <p:cNvSpPr txBox="1"/>
          <p:nvPr/>
        </p:nvSpPr>
        <p:spPr>
          <a:xfrm>
            <a:off x="1243012" y="1756370"/>
            <a:ext cx="9429749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AR" sz="2000" dirty="0"/>
              <a:t>La PML presenta un potencial de soluciones para mejorar la </a:t>
            </a:r>
            <a:r>
              <a:rPr lang="es-AR" sz="2000" dirty="0">
                <a:solidFill>
                  <a:srgbClr val="FF0000"/>
                </a:solidFill>
              </a:rPr>
              <a:t>eficiencia económica </a:t>
            </a:r>
            <a:r>
              <a:rPr lang="es-AR" sz="2000" dirty="0"/>
              <a:t>de la empresa pues contribuye a reducir la cantidad de materiales y energía usados.  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CD1D101-9BE0-36FD-4369-09E2231F62FB}"/>
              </a:ext>
            </a:extLst>
          </p:cNvPr>
          <p:cNvSpPr txBox="1"/>
          <p:nvPr/>
        </p:nvSpPr>
        <p:spPr>
          <a:xfrm>
            <a:off x="1857374" y="2943104"/>
            <a:ext cx="8815387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AR" sz="2000" dirty="0"/>
              <a:t>Debido a una exploración intensiva del proceso de producción, la minimización de desechos y emisiones generalmente induce un proceso de </a:t>
            </a:r>
            <a:r>
              <a:rPr lang="es-AR" sz="2000" dirty="0">
                <a:solidFill>
                  <a:srgbClr val="FF0000"/>
                </a:solidFill>
              </a:rPr>
              <a:t>innovación</a:t>
            </a:r>
            <a:r>
              <a:rPr lang="es-AR" sz="2000" dirty="0"/>
              <a:t> dentro de la compañía.  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8805CDF-39EA-B169-F4E4-2C3F66C1E806}"/>
              </a:ext>
            </a:extLst>
          </p:cNvPr>
          <p:cNvSpPr txBox="1"/>
          <p:nvPr/>
        </p:nvSpPr>
        <p:spPr>
          <a:xfrm>
            <a:off x="2614611" y="4364771"/>
            <a:ext cx="8058150" cy="101566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AR" sz="2000" dirty="0"/>
              <a:t>Se asume la responsabilidad por el </a:t>
            </a:r>
            <a:r>
              <a:rPr lang="es-AR" sz="2000" dirty="0">
                <a:solidFill>
                  <a:srgbClr val="FF0000"/>
                </a:solidFill>
              </a:rPr>
              <a:t>proceso de producción como un todo</a:t>
            </a:r>
            <a:r>
              <a:rPr lang="es-AR" sz="2000" dirty="0"/>
              <a:t>; los riesgos en el campo de responsabilidad ambiental y de eliminación de desechos pueden minimizarse.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5FC507-2B42-AF9C-4BB3-C6B204E0E2D3}"/>
              </a:ext>
            </a:extLst>
          </p:cNvPr>
          <p:cNvSpPr txBox="1"/>
          <p:nvPr/>
        </p:nvSpPr>
        <p:spPr>
          <a:xfrm>
            <a:off x="3900486" y="5770702"/>
            <a:ext cx="6772275" cy="70788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AR" sz="2000" dirty="0"/>
              <a:t>La minimización de desechos y emisiones es un paso hacia un desarrollo económico más sostenido. </a:t>
            </a:r>
          </a:p>
        </p:txBody>
      </p:sp>
    </p:spTree>
    <p:extLst>
      <p:ext uri="{BB962C8B-B14F-4D97-AF65-F5344CB8AC3E}">
        <p14:creationId xmlns:p14="http://schemas.microsoft.com/office/powerpoint/2010/main" val="310900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2C900AC-F754-2DE0-1DF5-40FB9EA92E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0369061"/>
              </p:ext>
            </p:extLst>
          </p:nvPr>
        </p:nvGraphicFramePr>
        <p:xfrm>
          <a:off x="1511300" y="53975"/>
          <a:ext cx="10620375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7170" name="Picture 2" descr="3 Tipos de preguntas que como docente debes conocer. ¿Cómo debes formular  una pregunta a tus alumnos?">
            <a:extLst>
              <a:ext uri="{FF2B5EF4-FFF2-40B4-BE49-F238E27FC236}">
                <a16:creationId xmlns:a16="http://schemas.microsoft.com/office/drawing/2014/main" id="{AB3AC012-ABB6-FA5C-8872-C988D16B0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65600"/>
            <a:ext cx="3022600" cy="269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0633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8C6E1E-06D4-5A34-139C-0EF01C063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07A88BDD-9C9A-B5E2-4F8E-E075144A0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4738" y="10151"/>
            <a:ext cx="5177642" cy="684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599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FB6953-E95A-CBDE-890B-25CE973CE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4173"/>
          </a:xfrm>
        </p:spPr>
        <p:txBody>
          <a:bodyPr/>
          <a:lstStyle/>
          <a:p>
            <a:r>
              <a:rPr lang="es-AR" dirty="0"/>
              <a:t>En debate….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319AEB-7DCD-0CB6-9637-CAE2790BF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sz="2400" dirty="0" err="1">
                <a:effectLst/>
                <a:latin typeface="AmerigoBT"/>
              </a:rPr>
              <a:t>Rodríguez</a:t>
            </a:r>
            <a:r>
              <a:rPr lang="es-AR" sz="2400" dirty="0">
                <a:effectLst/>
                <a:latin typeface="AmerigoBT"/>
              </a:rPr>
              <a:t> </a:t>
            </a:r>
            <a:r>
              <a:rPr lang="es-AR" sz="2400" i="1" dirty="0">
                <a:effectLst/>
                <a:latin typeface="AmerigoBT"/>
              </a:rPr>
              <a:t>et al</a:t>
            </a:r>
            <a:r>
              <a:rPr lang="es-AR" sz="2400" dirty="0">
                <a:effectLst/>
                <a:latin typeface="AmerigoBT"/>
              </a:rPr>
              <a:t>. (2001) menciona que el impacto ambiental generado por los procesos productivos está relacionado con el grado de ineficiencia de las tecnologías que se utilizan en cada caso. </a:t>
            </a:r>
          </a:p>
          <a:p>
            <a:pPr marL="0" indent="0">
              <a:buNone/>
            </a:pPr>
            <a:endParaRPr lang="es-AR" sz="3600" dirty="0"/>
          </a:p>
          <a:p>
            <a:r>
              <a:rPr lang="es-AR" sz="2400" dirty="0">
                <a:effectLst/>
                <a:latin typeface="AmerigoBT"/>
              </a:rPr>
              <a:t>Arroyave y </a:t>
            </a:r>
            <a:r>
              <a:rPr lang="es-AR" sz="2400" dirty="0" err="1">
                <a:effectLst/>
                <a:latin typeface="AmerigoBT"/>
              </a:rPr>
              <a:t>Garcés</a:t>
            </a:r>
            <a:r>
              <a:rPr lang="es-AR" sz="2400" dirty="0">
                <a:effectLst/>
                <a:latin typeface="AmerigoBT"/>
              </a:rPr>
              <a:t> (2006) mencionan que la generación de residuos y emisiones durante el proceso productivo puede ser considerada como una pérdida en el proceso y un inadecuado aprovechamiento de la materia prima empleada. </a:t>
            </a:r>
            <a:endParaRPr lang="es-AR" sz="3600" dirty="0"/>
          </a:p>
          <a:p>
            <a:endParaRPr lang="es-AR" sz="3600" dirty="0"/>
          </a:p>
        </p:txBody>
      </p:sp>
    </p:spTree>
    <p:extLst>
      <p:ext uri="{BB962C8B-B14F-4D97-AF65-F5344CB8AC3E}">
        <p14:creationId xmlns:p14="http://schemas.microsoft.com/office/powerpoint/2010/main" val="3104815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DE8DC-ED34-6AED-A450-E250874A8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0"/>
            <a:ext cx="10515600" cy="849313"/>
          </a:xfrm>
        </p:spPr>
        <p:txBody>
          <a:bodyPr/>
          <a:lstStyle/>
          <a:p>
            <a:r>
              <a:rPr lang="es-AR" dirty="0"/>
              <a:t>A lo largo del tiempo…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F4DCC3F-4904-3D72-80B5-BDC15275AE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0193359"/>
              </p:ext>
            </p:extLst>
          </p:nvPr>
        </p:nvGraphicFramePr>
        <p:xfrm>
          <a:off x="0" y="849313"/>
          <a:ext cx="12192000" cy="6008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5117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CD16C351-E344-10C3-CB54-91FF5BCB37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9284506"/>
              </p:ext>
            </p:extLst>
          </p:nvPr>
        </p:nvGraphicFramePr>
        <p:xfrm>
          <a:off x="571499" y="585788"/>
          <a:ext cx="11072813" cy="5591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1228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a Asamblea General adopta la Agenda 2030 para el Desarrollo Sostenible -  Desarrollo Sostenible">
            <a:extLst>
              <a:ext uri="{FF2B5EF4-FFF2-40B4-BE49-F238E27FC236}">
                <a16:creationId xmlns:a16="http://schemas.microsoft.com/office/drawing/2014/main" id="{C638FB7D-BA37-F09A-F71B-F63A755788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741" y="298379"/>
            <a:ext cx="8491847" cy="6559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9318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D9394-CDBA-ACB6-93E6-773C63E7D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575506" cy="1325563"/>
          </a:xfrm>
        </p:spPr>
        <p:txBody>
          <a:bodyPr/>
          <a:lstStyle/>
          <a:p>
            <a:r>
              <a:rPr lang="es-AR" dirty="0">
                <a:solidFill>
                  <a:srgbClr val="FF0000"/>
                </a:solidFill>
              </a:rPr>
              <a:t>En el Perú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748DC0-11A1-0D5A-A816-6670B1D87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63827"/>
            <a:ext cx="10515600" cy="1603375"/>
          </a:xfrm>
        </p:spPr>
        <p:txBody>
          <a:bodyPr/>
          <a:lstStyle/>
          <a:p>
            <a:r>
              <a:rPr lang="es-AR" dirty="0"/>
              <a:t>Compendio:</a:t>
            </a:r>
          </a:p>
          <a:p>
            <a:pPr marL="0" indent="0">
              <a:buNone/>
            </a:pPr>
            <a:r>
              <a:rPr lang="es-AR" dirty="0"/>
              <a:t>https://</a:t>
            </a:r>
            <a:r>
              <a:rPr lang="es-AR" dirty="0" err="1"/>
              <a:t>www.gob.pe</a:t>
            </a:r>
            <a:r>
              <a:rPr lang="es-AR" dirty="0"/>
              <a:t>/</a:t>
            </a:r>
            <a:r>
              <a:rPr lang="es-AR" dirty="0" err="1"/>
              <a:t>institucion</a:t>
            </a:r>
            <a:r>
              <a:rPr lang="es-AR" dirty="0"/>
              <a:t>/</a:t>
            </a:r>
            <a:r>
              <a:rPr lang="es-AR" dirty="0" err="1"/>
              <a:t>minam</a:t>
            </a:r>
            <a:r>
              <a:rPr lang="es-AR" dirty="0"/>
              <a:t>/colecciones/14859-acuerdos-de-produccion-limpia-apl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696A415-719F-63E3-A840-9FBCED0C6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608" y="21395"/>
            <a:ext cx="7772400" cy="434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090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078989-06F6-128D-5A1F-997107E11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943" y="2418382"/>
            <a:ext cx="5161156" cy="2398944"/>
          </a:xfrm>
        </p:spPr>
        <p:txBody>
          <a:bodyPr>
            <a:normAutofit fontScale="92500" lnSpcReduction="10000"/>
          </a:bodyPr>
          <a:lstStyle/>
          <a:p>
            <a:r>
              <a:rPr lang="es-AR" sz="2400" dirty="0">
                <a:effectLst/>
                <a:latin typeface="AmerigoBT"/>
              </a:rPr>
              <a:t>El PNUMA define Producción Más Limpia como “</a:t>
            </a:r>
            <a:r>
              <a:rPr lang="es-AR" sz="2400" b="1" i="1" dirty="0">
                <a:effectLst/>
                <a:latin typeface="AmerigoBT"/>
              </a:rPr>
              <a:t>la aplicación continua de una estrategia ambiental preventiva integrada a los procesos, productos y servicios, con el fin de aumentar la eficiencia total, y reducir riesgos a los seres humanos y al ambiente”</a:t>
            </a:r>
            <a:r>
              <a:rPr lang="es-AR" sz="2400" dirty="0">
                <a:effectLst/>
                <a:latin typeface="AmerigoBT"/>
              </a:rPr>
              <a:t> (UNESCO, 1992). </a:t>
            </a:r>
            <a:endParaRPr lang="es-AR" sz="3600" dirty="0"/>
          </a:p>
          <a:p>
            <a:endParaRPr lang="es-AR" sz="3600" dirty="0"/>
          </a:p>
        </p:txBody>
      </p:sp>
      <p:pic>
        <p:nvPicPr>
          <p:cNvPr id="8194" name="Picture 2" descr="Producción Limpia - Asociación Mundial de Ganadería Sostenible">
            <a:extLst>
              <a:ext uri="{FF2B5EF4-FFF2-40B4-BE49-F238E27FC236}">
                <a16:creationId xmlns:a16="http://schemas.microsoft.com/office/drawing/2014/main" id="{737FA3FA-974A-7E58-8DB0-F1684E7C1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673" y="1932994"/>
            <a:ext cx="5680075" cy="3779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3726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23B60B62-0A16-57FA-D56D-C91776B134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152960" y="972829"/>
            <a:ext cx="7592858" cy="588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61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AB4B6-FF37-C622-A9AD-DF3F4830A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8241" y="2079625"/>
            <a:ext cx="3786188" cy="2406650"/>
          </a:xfrm>
        </p:spPr>
        <p:txBody>
          <a:bodyPr>
            <a:normAutofit/>
          </a:bodyPr>
          <a:lstStyle/>
          <a:p>
            <a:pPr algn="ctr"/>
            <a:r>
              <a:rPr lang="es-AR" dirty="0"/>
              <a:t>¿Sistema de Gestión Ambiental?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F5C4EBD-0237-9D5B-C8C2-FC85E2217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31128" y="700881"/>
            <a:ext cx="7687113" cy="545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985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1378</TotalTime>
  <Words>909</Words>
  <Application>Microsoft Macintosh PowerPoint</Application>
  <PresentationFormat>Panorámica</PresentationFormat>
  <Paragraphs>43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AmerigoBT</vt:lpstr>
      <vt:lpstr>Arial</vt:lpstr>
      <vt:lpstr>Bernard MT Condensed</vt:lpstr>
      <vt:lpstr>Calibri</vt:lpstr>
      <vt:lpstr>Calibri Light</vt:lpstr>
      <vt:lpstr>Tema de Office</vt:lpstr>
      <vt:lpstr>1_Tema de Office</vt:lpstr>
      <vt:lpstr>TECNOLOGIAS LIMPIAS EN LOS PROCESOS INDUSTRIALES</vt:lpstr>
      <vt:lpstr>PRODUCCIÓN MAS LIMPIA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¿Producción Más Limpia versus Final del Tubo?   </vt:lpstr>
      <vt:lpstr>Presentación de PowerPoint</vt:lpstr>
      <vt:lpstr>Entre las ventajas se tiene: </vt:lpstr>
      <vt:lpstr>Presentación de PowerPoint</vt:lpstr>
      <vt:lpstr>Presentación de PowerPoint</vt:lpstr>
      <vt:lpstr>En debate….</vt:lpstr>
      <vt:lpstr>A lo largo del tiempo…</vt:lpstr>
      <vt:lpstr>Presentación de PowerPoint</vt:lpstr>
      <vt:lpstr>Presentación de PowerPoint</vt:lpstr>
      <vt:lpstr>En el Perú</vt:lpstr>
      <vt:lpstr>Presentación de PowerPoint</vt:lpstr>
      <vt:lpstr>Presentación de PowerPoint</vt:lpstr>
      <vt:lpstr>¿Sistema de Gestión Ambiental?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PRODUCCIÓN MAS LIMPIA</dc:title>
  <dc:creator>Microsoft Office User</dc:creator>
  <cp:lastModifiedBy>Microsoft Office User</cp:lastModifiedBy>
  <cp:revision>10</cp:revision>
  <dcterms:created xsi:type="dcterms:W3CDTF">2024-08-25T15:39:32Z</dcterms:created>
  <dcterms:modified xsi:type="dcterms:W3CDTF">2025-09-03T13:57:21Z</dcterms:modified>
</cp:coreProperties>
</file>