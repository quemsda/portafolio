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81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9" r:id="rId12"/>
    <p:sldId id="345" r:id="rId13"/>
    <p:sldId id="346" r:id="rId14"/>
    <p:sldId id="347" r:id="rId15"/>
    <p:sldId id="348" r:id="rId16"/>
    <p:sldId id="350" r:id="rId17"/>
    <p:sldId id="357" r:id="rId18"/>
    <p:sldId id="352" r:id="rId19"/>
    <p:sldId id="353" r:id="rId20"/>
    <p:sldId id="354" r:id="rId21"/>
    <p:sldId id="355" r:id="rId22"/>
    <p:sldId id="358" r:id="rId23"/>
    <p:sldId id="356" r:id="rId24"/>
    <p:sldId id="359" r:id="rId2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43"/>
  </p:normalViewPr>
  <p:slideViewPr>
    <p:cSldViewPr snapToGrid="0">
      <p:cViewPr varScale="1">
        <p:scale>
          <a:sx n="93" d="100"/>
          <a:sy n="93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DCEBD-12A8-E84E-A13B-E69BC385390E}" type="datetimeFigureOut">
              <a:rPr lang="es-AR" smtClean="0"/>
              <a:t>15/2/26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34453-65C6-3C40-AC9B-DCB98A8DB3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542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34453-65C6-3C40-AC9B-DCB98A8DB354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028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AEC58-3F3E-E090-388B-5BD994122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5DFC2-C50E-AA55-78D2-E8C607D5A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AF73C9-6371-BA12-94B7-441DCA90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9175D-166A-114E-3A5A-3993020A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E1C120-32BE-8AF2-121D-77233556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42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063CF-D289-E090-2F14-72E5B399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8B334E-5C31-B95D-4BFC-98E64ABB4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F4AD1C-2E71-11B9-7D96-62971F85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7DFEC0-F31D-BAAD-35A8-0638DFB0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CE24F1-97E2-FD42-794C-5EA8AA69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647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5F526-EA6F-00DE-CABB-87A1951A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264015-FBB6-35A5-6EBD-5921540BC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C8C55-2CC2-11BB-5EF7-41609675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C3807A-8EC1-2921-60E8-BDA16EDF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0CF7D-0650-4474-4D9D-918CBD22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33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EF0F-8AED-27AD-EE9A-BAE6FB26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1DC76-E64F-2B0F-4695-A8FA42958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DB528A-982F-A806-D32B-EDA480AAD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978043-F6B7-3146-7F75-7DEF933F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771920-F988-7E93-0B50-467F34AD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CE5A43-5662-A537-153C-5A063687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799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2958F-D969-607A-0CCA-4890D0FB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DE25A1-ADEC-8B42-4B51-E5FB08BE9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BA1350-B6DA-8902-D63B-961C320D3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62B1DC-F4F8-9AFD-0A24-FA41AC780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47D7AA-B9DA-3EA9-3B78-4A4E5F7FE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57245F-C5C0-6E57-4E46-095764F6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21B49D-A261-8833-3B0E-103D0973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C9D467-1236-DDC3-53B5-5CB89555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102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E562-2BF4-850A-447C-8B21F938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AE7E70-791D-D858-3C5F-29245436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F66679-A875-46A6-DF8C-C25E034C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329A1D-7763-5C23-150E-45A242E9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251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03B4E5-8ECF-BD5D-5952-A08F021F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C81E3C-8359-0C04-5D55-7C0F64BC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07C3BE-9FA9-FF2E-9FDD-4B25146C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744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9CEE6-4DD0-2841-A568-7EB6A95C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F02E1-1515-D65C-9C33-6B9B2E7DB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ECE4E3-F725-6FC1-5E12-724EDFDAB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B2EED1-B5CF-C9A5-CD7D-D0E79E5C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2343FE-2616-45E9-DE0F-14AF52A8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A6AA9E-42E4-6C54-6EC4-B38F5513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123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14508-759D-2B96-BEE0-2DAD3D75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689211-A881-5B28-E98F-D64963956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9C62B8-DD20-31DB-7414-A2662D46B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40566B-E353-CCE5-D713-E2EAEDCE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CB90AF-11B0-2995-009E-0CE5F67E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D22F77-A006-C205-FF9A-58A054CE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865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3BC2A-D998-52F1-73B0-599FE115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EBA82E-12A1-3234-16C8-AB05231BA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0FFC5B-C11E-1AD1-DFBB-D09EECA5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6B1BC1-6B01-A58D-4F18-A76FC4C2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91B82E-28F5-DCEA-51DC-3F4605EE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827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4E476D-B40F-B192-2063-82603B724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63E8D8-51BF-A09F-127C-F5A9F0B8A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E58E2-6BF5-23DE-756A-30ECE01C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CC2D0E-6428-2307-3F86-8C4577E2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4883F-B3EA-5DF1-7F9F-2E88919D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2642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527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2851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7146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11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756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3775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5338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40541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982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2326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39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767093-3EFC-8119-856B-4A29FEB2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21B6A-1F42-49E9-0ED3-DA72DDEC6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2659B7-CEF9-F961-0915-54878CB5F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F412-8DAF-A745-A90A-3EF0620C7097}" type="datetimeFigureOut">
              <a:rPr lang="es-AR" smtClean="0"/>
              <a:t>15/2/26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F7ED9-2054-D803-999F-B50C4B05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BE0B4-97A5-8A1E-FD8E-7007489CB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703CD-7361-164B-B892-FAFA58E6F1F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15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8F1B7-E5BE-4380-9EB8-EE8D7492FA4D}" type="datetimeFigureOut">
              <a:rPr lang="es-PE" smtClean="0"/>
              <a:t>15/02/26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538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8.gif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5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31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7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33F37-9CDF-15C3-49BB-64AE26843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793" y="4263592"/>
            <a:ext cx="7257326" cy="1126283"/>
          </a:xfrm>
        </p:spPr>
        <p:txBody>
          <a:bodyPr>
            <a:normAutofit fontScale="90000"/>
          </a:bodyPr>
          <a:lstStyle/>
          <a:p>
            <a:r>
              <a:rPr lang="es-MX" sz="4800" b="1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TECNOLOGIAS LIMPIAS EN LOS PROCESOS INDUSTRIALES</a:t>
            </a:r>
            <a:endParaRPr lang="es-AR" sz="4800" b="1" dirty="0">
              <a:solidFill>
                <a:schemeClr val="accen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F84A92-7213-7DBF-F669-188ED288A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48727"/>
            <a:ext cx="8915399" cy="538707"/>
          </a:xfrm>
        </p:spPr>
        <p:txBody>
          <a:bodyPr/>
          <a:lstStyle/>
          <a:p>
            <a:pPr algn="l"/>
            <a:r>
              <a:rPr lang="es-AR" dirty="0" err="1">
                <a:solidFill>
                  <a:schemeClr val="bg1"/>
                </a:solidFill>
              </a:rPr>
              <a:t>Mgt</a:t>
            </a:r>
            <a:r>
              <a:rPr lang="es-AR" dirty="0">
                <a:solidFill>
                  <a:schemeClr val="bg1"/>
                </a:solidFill>
              </a:rPr>
              <a:t>. Ing. </a:t>
            </a:r>
            <a:r>
              <a:rPr lang="es-AR" dirty="0" err="1">
                <a:solidFill>
                  <a:schemeClr val="bg1"/>
                </a:solidFill>
              </a:rPr>
              <a:t>Guisell</a:t>
            </a:r>
            <a:r>
              <a:rPr lang="es-AR" dirty="0">
                <a:solidFill>
                  <a:schemeClr val="bg1"/>
                </a:solidFill>
              </a:rPr>
              <a:t> Aedo Vega Centeno</a:t>
            </a:r>
          </a:p>
        </p:txBody>
      </p:sp>
    </p:spTree>
    <p:extLst>
      <p:ext uri="{BB962C8B-B14F-4D97-AF65-F5344CB8AC3E}">
        <p14:creationId xmlns:p14="http://schemas.microsoft.com/office/powerpoint/2010/main" val="139253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7C61DAC-E13F-4975-4A41-EC92640C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LA INDUSTRIA Y SUS REQUERIMIENTOS MATERIALES Y ENERGÉTICOS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E87B75-1E44-457F-DA55-B4DA9581B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597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17744-7B98-5A45-20BB-3FC9A35E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8" y="0"/>
            <a:ext cx="5513511" cy="1325563"/>
          </a:xfrm>
        </p:spPr>
        <p:txBody>
          <a:bodyPr/>
          <a:lstStyle/>
          <a:p>
            <a:pPr algn="ctr"/>
            <a:r>
              <a:rPr lang="es-AR" dirty="0"/>
              <a:t>Materias Primas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5028EE-F71B-B6A4-0E0B-92B3A5A98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875" y="1669463"/>
            <a:ext cx="5157787" cy="504825"/>
          </a:xfrm>
        </p:spPr>
        <p:txBody>
          <a:bodyPr/>
          <a:lstStyle/>
          <a:p>
            <a:pPr algn="ctr"/>
            <a:r>
              <a:rPr lang="es-AR" dirty="0"/>
              <a:t>Materias Primas Renovables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978262-FDBA-0878-CD8A-5A6E492CE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875" y="2345911"/>
            <a:ext cx="4813793" cy="4146963"/>
          </a:xfrm>
        </p:spPr>
        <p:txBody>
          <a:bodyPr>
            <a:normAutofit fontScale="92500" lnSpcReduction="20000"/>
          </a:bodyPr>
          <a:lstStyle/>
          <a:p>
            <a:r>
              <a:rPr lang="es-AR" dirty="0">
                <a:solidFill>
                  <a:schemeClr val="accent1"/>
                </a:solidFill>
              </a:rPr>
              <a:t>Regeneración en un plazo relativamente breve.</a:t>
            </a:r>
          </a:p>
          <a:p>
            <a:r>
              <a:rPr lang="es-AR" dirty="0">
                <a:solidFill>
                  <a:schemeClr val="accent1"/>
                </a:solidFill>
              </a:rPr>
              <a:t>Explotación de recursos agropecuarios, forestales y marinos.</a:t>
            </a:r>
          </a:p>
          <a:p>
            <a:r>
              <a:rPr lang="es-AR" dirty="0">
                <a:solidFill>
                  <a:schemeClr val="accent1"/>
                </a:solidFill>
              </a:rPr>
              <a:t>Se obtienen directa o indirectamente a partir de la energía solar, que sustenta la actividad fotosintética primaria.</a:t>
            </a:r>
          </a:p>
          <a:p>
            <a:r>
              <a:rPr lang="es-AR" dirty="0">
                <a:solidFill>
                  <a:schemeClr val="accent1"/>
                </a:solidFill>
              </a:rPr>
              <a:t>Manejo de cultivos, </a:t>
            </a:r>
            <a:r>
              <a:rPr lang="es-AR" u="sng" dirty="0">
                <a:solidFill>
                  <a:schemeClr val="accent1"/>
                </a:solidFill>
              </a:rPr>
              <a:t>uso de maquinaria.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1DE5C3EF-A775-FEF2-2F4B-D62EBD885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2159" y="2345911"/>
            <a:ext cx="4216833" cy="3684588"/>
          </a:xfrm>
        </p:spPr>
        <p:txBody>
          <a:bodyPr>
            <a:normAutofit fontScale="92500" lnSpcReduction="20000"/>
          </a:bodyPr>
          <a:lstStyle/>
          <a:p>
            <a:r>
              <a:rPr lang="es-AR" dirty="0">
                <a:solidFill>
                  <a:schemeClr val="accent6">
                    <a:lumMod val="50000"/>
                  </a:schemeClr>
                </a:solidFill>
              </a:rPr>
              <a:t>Mantener una tasa de explotación no mayor que la tasa de regeneración del recurso.</a:t>
            </a:r>
          </a:p>
          <a:p>
            <a:r>
              <a:rPr lang="es-AR" dirty="0">
                <a:solidFill>
                  <a:schemeClr val="accent6">
                    <a:lumMod val="50000"/>
                  </a:schemeClr>
                </a:solidFill>
              </a:rPr>
              <a:t>Continua observación de los balances de biomasa, un monitoreo efectivo del “stock” de recursos disponibles y de la evolución de la productividad natural.</a:t>
            </a:r>
          </a:p>
        </p:txBody>
      </p:sp>
      <p:pic>
        <p:nvPicPr>
          <p:cNvPr id="1026" name="Picture 2" descr="Ministerio de la Producción on X: &quot;🐟 La cuota en la pesca permite asegurar  la sosteniblidad y cuidado de las especies. Conoce más sobre esta  importante medida realizada con el soporte de">
            <a:extLst>
              <a:ext uri="{FF2B5EF4-FFF2-40B4-BE49-F238E27FC236}">
                <a16:creationId xmlns:a16="http://schemas.microsoft.com/office/drawing/2014/main" id="{352E3069-E405-1A4E-E5D0-B424EB9A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992" y="2307669"/>
            <a:ext cx="3333008" cy="333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114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415918-A85C-2459-0BB9-9E8D30EC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024" y="392907"/>
            <a:ext cx="5157787" cy="823912"/>
          </a:xfrm>
        </p:spPr>
        <p:txBody>
          <a:bodyPr/>
          <a:lstStyle/>
          <a:p>
            <a:r>
              <a:rPr lang="es-AR" dirty="0"/>
              <a:t>Materias Primas No Renovables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D69C4A-6293-F4C0-EC62-91619DEFE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1023" y="1347787"/>
            <a:ext cx="5157787" cy="2081213"/>
          </a:xfrm>
        </p:spPr>
        <p:txBody>
          <a:bodyPr>
            <a:normAutofit/>
          </a:bodyPr>
          <a:lstStyle/>
          <a:p>
            <a:r>
              <a:rPr lang="es-AR" dirty="0"/>
              <a:t>Se definen como aquellas cuya tasa de regeneración natural es demasiado lenta.  (materias primas de origen fósil y de origen mineral).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F45572-1123-7792-6354-5C8F1B09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329" y="1935060"/>
            <a:ext cx="5183188" cy="3684588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rgbClr val="C00000"/>
                </a:solidFill>
              </a:rPr>
              <a:t>La explotación de estos recursos no renovables debe hacerse tomando en consideración el “stock” disponible.  Sin embargo, la </a:t>
            </a:r>
            <a:r>
              <a:rPr lang="es-AR" i="1" dirty="0">
                <a:solidFill>
                  <a:srgbClr val="C00000"/>
                </a:solidFill>
              </a:rPr>
              <a:t>velocidad de consumo de estos materiales está estrictamente determinada por factores económicos y tecnológicos.</a:t>
            </a:r>
          </a:p>
        </p:txBody>
      </p:sp>
      <p:pic>
        <p:nvPicPr>
          <p:cNvPr id="2050" name="Picture 2" descr="El fascinante mundo de las plataformas petrolíferas: estructuras flotantes  de 200.000 toneladas o 2.900 metros de profundidad">
            <a:extLst>
              <a:ext uri="{FF2B5EF4-FFF2-40B4-BE49-F238E27FC236}">
                <a16:creationId xmlns:a16="http://schemas.microsoft.com/office/drawing/2014/main" id="{BF915B68-5F5A-1929-847C-5A9A3CACB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385" y="3429000"/>
            <a:ext cx="3279774" cy="32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55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F1326-7973-75C0-0AA9-E424EFCF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AR" sz="4000" dirty="0">
                <a:effectLst/>
                <a:latin typeface="Helvetica" pitchFamily="2" charset="0"/>
              </a:rPr>
              <a:t>Requerimientos Energéticos </a:t>
            </a:r>
            <a:endParaRPr lang="es-AR" sz="40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7B839E-33BF-BAF5-1CC6-E343D5D9E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a) Energía Calórica </a:t>
            </a:r>
            <a:endParaRPr lang="es-AR" dirty="0"/>
          </a:p>
        </p:txBody>
      </p:sp>
      <p:pic>
        <p:nvPicPr>
          <p:cNvPr id="3074" name="Picture 2" descr="Instrumentación y análisis de gases para metalurgia, siderurgia y  fundiciones | Fuji Electric">
            <a:extLst>
              <a:ext uri="{FF2B5EF4-FFF2-40B4-BE49-F238E27FC236}">
                <a16:creationId xmlns:a16="http://schemas.microsoft.com/office/drawing/2014/main" id="{82B07427-1997-6CC2-7B5D-BAB076BDCC6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05" y="2196450"/>
            <a:ext cx="47625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6F34EA-453B-E0B5-0A0B-9429E9B0A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37584"/>
            <a:ext cx="5183188" cy="2233180"/>
          </a:xfrm>
        </p:spPr>
        <p:txBody>
          <a:bodyPr/>
          <a:lstStyle/>
          <a:p>
            <a:r>
              <a:rPr lang="es-AR" sz="1800" dirty="0">
                <a:effectLst/>
                <a:latin typeface="Helvetica" pitchFamily="2" charset="0"/>
              </a:rPr>
              <a:t>La energía calórica se utiliza a escala industrial para aumentar la temperatura de los materiales y, como consecuencia de esto, producir cambios físicos y/o químicos de interés. </a:t>
            </a:r>
          </a:p>
          <a:p>
            <a:r>
              <a:rPr lang="es-AR" sz="1800" dirty="0">
                <a:effectLst/>
                <a:latin typeface="Helvetica" pitchFamily="2" charset="0"/>
              </a:rPr>
              <a:t>Se necesita energía calórica en procesos de cocción, secado, evaporación, concentración, fundición, destilación, pirolisis, etc. 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98921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agrama de flujo del sistema de Intercambiadores de Calor. Fuente:... |  Download Scientific Diagram">
            <a:extLst>
              <a:ext uri="{FF2B5EF4-FFF2-40B4-BE49-F238E27FC236}">
                <a16:creationId xmlns:a16="http://schemas.microsoft.com/office/drawing/2014/main" id="{AAB4F58D-87EC-A744-3F88-7A247675C3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99" y="1414462"/>
            <a:ext cx="8578801" cy="433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573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9A6300-6FEC-CF17-D92D-E2DB26739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25" y="1993106"/>
            <a:ext cx="5157787" cy="823912"/>
          </a:xfrm>
        </p:spPr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b) Energía Mecánica 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355929-CBD6-7671-A78B-9DF031FC8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488" y="3690936"/>
            <a:ext cx="5157787" cy="1895475"/>
          </a:xfrm>
        </p:spPr>
        <p:txBody>
          <a:bodyPr/>
          <a:lstStyle/>
          <a:p>
            <a:r>
              <a:rPr lang="es-AR" sz="1800" dirty="0">
                <a:effectLst/>
                <a:latin typeface="Helvetica" pitchFamily="2" charset="0"/>
              </a:rPr>
              <a:t>La energía mecánica se requiere para el transporte y transformación física de las materias primas. </a:t>
            </a:r>
          </a:p>
          <a:p>
            <a:r>
              <a:rPr lang="es-AR" sz="1800" dirty="0">
                <a:effectLst/>
                <a:latin typeface="Helvetica" pitchFamily="2" charset="0"/>
              </a:rPr>
              <a:t>El transporte de materias primas dentro del circuito productivo constituye un importante consumo de energía mecánica. </a:t>
            </a:r>
            <a:endParaRPr lang="es-AR" dirty="0"/>
          </a:p>
          <a:p>
            <a:endParaRPr lang="es-AR" dirty="0"/>
          </a:p>
        </p:txBody>
      </p:sp>
      <p:pic>
        <p:nvPicPr>
          <p:cNvPr id="5122" name="Picture 2" descr="Tipos de maquinaria industrial - Carmaq">
            <a:extLst>
              <a:ext uri="{FF2B5EF4-FFF2-40B4-BE49-F238E27FC236}">
                <a16:creationId xmlns:a16="http://schemas.microsoft.com/office/drawing/2014/main" id="{4DA9B1A3-99B2-B9A8-AFF1-A3C6190460FB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7" y="-26458"/>
            <a:ext cx="5183188" cy="345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rijoles">
            <a:extLst>
              <a:ext uri="{FF2B5EF4-FFF2-40B4-BE49-F238E27FC236}">
                <a16:creationId xmlns:a16="http://schemas.microsoft.com/office/drawing/2014/main" id="{EE1891DE-82AA-10EB-17A4-178716717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049" y="3690936"/>
            <a:ext cx="4926544" cy="316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22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D252E6-D426-06B3-3A9E-34D8D1E02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18263" y="4632811"/>
            <a:ext cx="5183188" cy="823912"/>
          </a:xfrm>
        </p:spPr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c) Energía Eléctrica </a:t>
            </a:r>
            <a:endParaRPr lang="es-AR" dirty="0">
              <a:effectLst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9056446-7A0E-8714-78D2-79DD05C81688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2" y="3643313"/>
            <a:ext cx="5183188" cy="318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1BF9C1E9-6661-C2CF-8A67-A5AE523D3F0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88327" cy="364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32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017C38D-9CF4-9D08-D1F7-6A7A2546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2400" b="1" dirty="0">
                <a:effectLst/>
                <a:latin typeface="Helvetica" pitchFamily="2" charset="0"/>
              </a:rPr>
              <a:t>FUENTES Y TIPOS DE RESIDUOS </a:t>
            </a:r>
            <a:endParaRPr lang="es-AR" sz="5400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9207E0E-5C8B-875B-B549-00B81141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Residuos Sólidos de Origen Doméstico </a:t>
            </a:r>
            <a:endParaRPr lang="es-AR" dirty="0">
              <a:effectLst/>
            </a:endParaRPr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320A63F6-D8B4-BA2B-021C-57A78A56E9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39788" y="3212899"/>
            <a:ext cx="5157787" cy="2268940"/>
          </a:xfrm>
          <a:prstGeom prst="rect">
            <a:avLst/>
          </a:prstGeo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14E026C-5882-E9D6-1EE5-EAE908F33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Residuos Sólidos de Origen Industrial </a:t>
            </a:r>
            <a:endParaRPr lang="es-AR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5112C2AF-F335-E86C-9012-F8958F972E1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194441" y="2505075"/>
            <a:ext cx="5138706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64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6430C26-FA91-81F0-D74A-54D4CFADF2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3317" y="1665614"/>
            <a:ext cx="5157787" cy="3484651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0EB55591-2B51-220C-3D1F-85E0F3FF823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127" y="104903"/>
            <a:ext cx="4962310" cy="330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anejo de Residuos Mineros | Consultores Mineros | SRK">
            <a:extLst>
              <a:ext uri="{FF2B5EF4-FFF2-40B4-BE49-F238E27FC236}">
                <a16:creationId xmlns:a16="http://schemas.microsoft.com/office/drawing/2014/main" id="{9F04F526-FE4D-7019-44CE-016328D83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127" y="3554963"/>
            <a:ext cx="4954556" cy="330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31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39E08C-70C7-36DB-9B30-B03CFD9E8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160" y="236500"/>
            <a:ext cx="5157787" cy="823912"/>
          </a:xfrm>
        </p:spPr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Residuos Líquidos de Origen Doméstico 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A0E55C-A32B-3343-1639-3D22B4736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160" y="1516030"/>
            <a:ext cx="4603620" cy="1992280"/>
          </a:xfrm>
        </p:spPr>
        <p:txBody>
          <a:bodyPr/>
          <a:lstStyle/>
          <a:p>
            <a:r>
              <a:rPr lang="es-AR" sz="1800" dirty="0">
                <a:latin typeface="Helvetica" pitchFamily="2" charset="0"/>
              </a:rPr>
              <a:t>C</a:t>
            </a:r>
            <a:r>
              <a:rPr lang="es-AR" sz="1800" dirty="0">
                <a:effectLst/>
                <a:latin typeface="Helvetica" pitchFamily="2" charset="0"/>
              </a:rPr>
              <a:t>onstituidos principalmente por las aguas generadas por las actividades de lavado (ropa, utensilios, alimentos, personas) y las aguas sanitarias (fecales). La tasa de generación diaria de residuos líquidos domésticos está en el rango 0,1-0,4 (m</a:t>
            </a:r>
            <a:r>
              <a:rPr lang="es-AR" sz="1800" baseline="30000" dirty="0">
                <a:effectLst/>
                <a:latin typeface="Helvetica" pitchFamily="2" charset="0"/>
              </a:rPr>
              <a:t>3</a:t>
            </a:r>
            <a:r>
              <a:rPr lang="es-AR" sz="1800" dirty="0">
                <a:effectLst/>
                <a:latin typeface="Helvetica" pitchFamily="2" charset="0"/>
              </a:rPr>
              <a:t>/persona). 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2822D1-74D5-7F05-B11E-1AF8A8933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36500"/>
            <a:ext cx="5183188" cy="823912"/>
          </a:xfrm>
        </p:spPr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Residuos Líquidos de Origen Industrial </a:t>
            </a: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452439-0408-BAEB-D2D8-1F8CF8AD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516030"/>
            <a:ext cx="5183188" cy="2589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AR" sz="1800" dirty="0">
                <a:effectLst/>
                <a:latin typeface="Helvetica" pitchFamily="2" charset="0"/>
              </a:rPr>
              <a:t>Aguas de enfriamiento </a:t>
            </a:r>
            <a:endParaRPr lang="es-AR" sz="1800" dirty="0">
              <a:effectLst/>
              <a:latin typeface="SymbolMT-Identity-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1800" dirty="0">
                <a:effectLst/>
                <a:latin typeface="Helvetica" pitchFamily="2" charset="0"/>
              </a:rPr>
              <a:t>Aguas de procesos </a:t>
            </a:r>
            <a:endParaRPr lang="es-AR" sz="1800" dirty="0">
              <a:effectLst/>
              <a:latin typeface="SymbolMT-Identity-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1800" dirty="0">
                <a:effectLst/>
                <a:latin typeface="Helvetica" pitchFamily="2" charset="0"/>
              </a:rPr>
              <a:t>Aguas de lavado de equipos </a:t>
            </a:r>
            <a:endParaRPr lang="es-AR" sz="1800" dirty="0">
              <a:effectLst/>
              <a:latin typeface="SymbolMT-Identity-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1800" dirty="0">
                <a:effectLst/>
                <a:latin typeface="Helvetica" pitchFamily="2" charset="0"/>
              </a:rPr>
              <a:t>Aguas servidas </a:t>
            </a:r>
            <a:endParaRPr lang="es-AR" sz="1800" dirty="0">
              <a:effectLst/>
              <a:latin typeface="SymbolMT-Identity-H"/>
            </a:endParaRPr>
          </a:p>
          <a:p>
            <a:pPr marL="0" indent="0">
              <a:buNone/>
            </a:pPr>
            <a:r>
              <a:rPr lang="es-AR" sz="1800" dirty="0">
                <a:effectLst/>
                <a:latin typeface="Helvetica" pitchFamily="2" charset="0"/>
              </a:rPr>
              <a:t>La composición de las aguas residuales industriales es altamente dependiente del tipo de procesos y de la naturaleza de los materiales utilizados. </a:t>
            </a:r>
            <a:endParaRPr lang="es-AR" dirty="0">
              <a:effectLst/>
            </a:endParaRPr>
          </a:p>
        </p:txBody>
      </p:sp>
      <p:pic>
        <p:nvPicPr>
          <p:cNvPr id="8194" name="Picture 2" descr="EFLUENTES DAS INDÚSTRIAS GALVÂNICAS - Transresind">
            <a:extLst>
              <a:ext uri="{FF2B5EF4-FFF2-40B4-BE49-F238E27FC236}">
                <a16:creationId xmlns:a16="http://schemas.microsoft.com/office/drawing/2014/main" id="{F3B7B4A3-53F3-BC7F-CA9F-3B58C44BA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14" y="3619581"/>
            <a:ext cx="4790233" cy="258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213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CD208-C52E-4CBE-F5FE-79DB1B71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9371012" cy="832788"/>
          </a:xfrm>
        </p:spPr>
        <p:txBody>
          <a:bodyPr>
            <a:normAutofit/>
          </a:bodyPr>
          <a:lstStyle/>
          <a:p>
            <a:pPr algn="ctr"/>
            <a:r>
              <a:rPr lang="es-AR" sz="4000" dirty="0">
                <a:effectLst/>
                <a:latin typeface="Helvetica" pitchFamily="2" charset="0"/>
              </a:rPr>
              <a:t>Residuos Gaseosos </a:t>
            </a:r>
            <a:endParaRPr lang="es-AR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3D875D-17AD-3CDC-F631-729EA1DF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Fuentes Fijas </a:t>
            </a:r>
            <a:endParaRPr lang="es-AR" dirty="0"/>
          </a:p>
        </p:txBody>
      </p:sp>
      <p:pic>
        <p:nvPicPr>
          <p:cNvPr id="9218" name="Picture 2" descr="Las emisiones industriales de CO2 en el mundo aumentaron un 2,1 % en 2018">
            <a:extLst>
              <a:ext uri="{FF2B5EF4-FFF2-40B4-BE49-F238E27FC236}">
                <a16:creationId xmlns:a16="http://schemas.microsoft.com/office/drawing/2014/main" id="{03E51893-A9E4-0ABB-A343-E818A904E3B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2289" y="2505075"/>
            <a:ext cx="4912784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A173FD-59FE-E332-1E6B-F50A56245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3006726"/>
            <a:ext cx="5183188" cy="2653361"/>
          </a:xfrm>
        </p:spPr>
        <p:txBody>
          <a:bodyPr/>
          <a:lstStyle/>
          <a:p>
            <a:r>
              <a:rPr lang="es-AR" sz="1800" b="1" i="1" dirty="0">
                <a:effectLst/>
                <a:latin typeface="Helvetica" pitchFamily="2" charset="0"/>
              </a:rPr>
              <a:t>Fuentes Fijas Puntuales</a:t>
            </a:r>
            <a:r>
              <a:rPr lang="es-AR" sz="1800" dirty="0">
                <a:effectLst/>
                <a:latin typeface="Helvetica" pitchFamily="2" charset="0"/>
              </a:rPr>
              <a:t>: Son aquellas que generan emisiones gaseosas en forma </a:t>
            </a:r>
            <a:r>
              <a:rPr lang="es-AR" sz="1800" dirty="0" err="1">
                <a:effectLst/>
                <a:latin typeface="Helvetica" pitchFamily="2" charset="0"/>
              </a:rPr>
              <a:t>más</a:t>
            </a:r>
            <a:r>
              <a:rPr lang="es-AR" sz="1800" dirty="0">
                <a:effectLst/>
                <a:latin typeface="Helvetica" pitchFamily="2" charset="0"/>
              </a:rPr>
              <a:t> o menos continua, a través de una chimenea o punto de descarga concentrado, con flujos significativos (</a:t>
            </a:r>
            <a:r>
              <a:rPr lang="es-AR" sz="1800" dirty="0" err="1">
                <a:effectLst/>
                <a:latin typeface="Helvetica" pitchFamily="2" charset="0"/>
              </a:rPr>
              <a:t>ejm.mayores</a:t>
            </a:r>
            <a:r>
              <a:rPr lang="es-AR" sz="1800" dirty="0">
                <a:effectLst/>
                <a:latin typeface="Helvetica" pitchFamily="2" charset="0"/>
              </a:rPr>
              <a:t> de 1000 m /</a:t>
            </a:r>
            <a:r>
              <a:rPr lang="es-AR" sz="1800" dirty="0" err="1">
                <a:effectLst/>
                <a:latin typeface="Helvetica" pitchFamily="2" charset="0"/>
              </a:rPr>
              <a:t>día</a:t>
            </a:r>
            <a:r>
              <a:rPr lang="es-AR" sz="1800" dirty="0">
                <a:effectLst/>
                <a:latin typeface="Helvetica" pitchFamily="2" charset="0"/>
              </a:rPr>
              <a:t>). </a:t>
            </a:r>
            <a:endParaRPr lang="es-AR" dirty="0"/>
          </a:p>
          <a:p>
            <a:r>
              <a:rPr lang="es-AR" sz="1800" b="1" i="1" dirty="0">
                <a:effectLst/>
                <a:latin typeface="Helvetica" pitchFamily="2" charset="0"/>
              </a:rPr>
              <a:t>Fuentes Fijas Difusas</a:t>
            </a:r>
            <a:r>
              <a:rPr lang="es-AR" sz="1800" dirty="0">
                <a:effectLst/>
                <a:latin typeface="Helvetica" pitchFamily="2" charset="0"/>
              </a:rPr>
              <a:t>: Son aquellas que generan emisiones en bajas cantidades, distribuidas espacialmente (</a:t>
            </a:r>
            <a:r>
              <a:rPr lang="es-AR" sz="1800" dirty="0" err="1">
                <a:effectLst/>
                <a:latin typeface="Helvetica" pitchFamily="2" charset="0"/>
              </a:rPr>
              <a:t>ejm</a:t>
            </a:r>
            <a:r>
              <a:rPr lang="es-AR" sz="1800" dirty="0">
                <a:effectLst/>
                <a:latin typeface="Helvetica" pitchFamily="2" charset="0"/>
              </a:rPr>
              <a:t>.: purgas de gases a través de válvulas de alivio). 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49228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C22798-831F-8947-3499-0874AFFDB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Fuentes Móviles </a:t>
            </a:r>
            <a:endParaRPr lang="es-AR" dirty="0"/>
          </a:p>
        </p:txBody>
      </p:sp>
      <p:pic>
        <p:nvPicPr>
          <p:cNvPr id="10244" name="Picture 4" descr="La carretera de Las Bambas: así es como una mala gestión ambiental propicia  los conflictos - CooperAcción">
            <a:extLst>
              <a:ext uri="{FF2B5EF4-FFF2-40B4-BE49-F238E27FC236}">
                <a16:creationId xmlns:a16="http://schemas.microsoft.com/office/drawing/2014/main" id="{EF80BA52-DCCC-DD42-578A-1022168842F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22" y="2656770"/>
            <a:ext cx="4877119" cy="257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5E17747-69AD-553C-5736-EC892B0AC2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662793" y="1786618"/>
            <a:ext cx="3959405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7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BD109-2272-E5F4-06B3-622E57BA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b="1" dirty="0"/>
              <a:t>TIPOS DE PROCESOS Y TECNOLOGIAS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918ADE5-D677-7BFC-34E8-8B7446B57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8113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8CC7703-8EF6-D4BD-5F3A-057F1DB2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/>
          <a:lstStyle/>
          <a:p>
            <a:pPr algn="ctr"/>
            <a:r>
              <a:rPr lang="es-AR" dirty="0"/>
              <a:t>Operaciones y Procesos Unitarios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88814B9-E2AC-4007-EFF1-5C327C0A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925782"/>
            <a:ext cx="6102927" cy="429490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AR" sz="2000" b="1" dirty="0"/>
              <a:t>Operación Unitaria:</a:t>
            </a:r>
            <a:r>
              <a:rPr lang="es-AR" sz="2000" dirty="0"/>
              <a:t> Cambios físicos donde no hay transformación de la naturaleza química de la materia (molienda, mezcla, sedimentación, filtración)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AR" sz="2000" b="1" dirty="0"/>
              <a:t>Proceso Unitario:</a:t>
            </a:r>
            <a:r>
              <a:rPr lang="es-AR" sz="2000" dirty="0"/>
              <a:t> Transformaciones químicas o bioquímicas de la materia (oxidación, combustión, fermentación, saponificación).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s-AR" sz="2000" dirty="0"/>
              <a:t>Siendo </a:t>
            </a:r>
            <a:r>
              <a:rPr lang="es-AR" sz="2000" b="0" i="0" dirty="0">
                <a:solidFill>
                  <a:srgbClr val="333333"/>
                </a:solidFill>
                <a:effectLst/>
              </a:rPr>
              <a:t>la </a:t>
            </a:r>
            <a:r>
              <a:rPr lang="es-AR" sz="2000" i="0" dirty="0">
                <a:solidFill>
                  <a:srgbClr val="333333"/>
                </a:solidFill>
                <a:effectLst/>
              </a:rPr>
              <a:t>secuencia básica de un proceso que implica un cambio físico o químico</a:t>
            </a:r>
            <a:r>
              <a:rPr lang="es-AR" sz="2000" dirty="0">
                <a:solidFill>
                  <a:srgbClr val="333333"/>
                </a:solidFill>
              </a:rPr>
              <a:t>.</a:t>
            </a:r>
            <a:endParaRPr lang="es-AR" sz="20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s-AR" sz="2000" dirty="0"/>
              <a:t>Son utilizadas en sectores como la química, metalurgia, farmacéutica, alimentaria y muchas más.</a:t>
            </a:r>
            <a:endParaRPr lang="es-AR" sz="2000" b="0" i="0" dirty="0">
              <a:solidFill>
                <a:srgbClr val="333333"/>
              </a:solidFill>
              <a:effectLst/>
            </a:endParaRPr>
          </a:p>
          <a:p>
            <a:pPr marL="0" indent="0">
              <a:buNone/>
            </a:pPr>
            <a:endParaRPr lang="es-AR" sz="2000" dirty="0"/>
          </a:p>
          <a:p>
            <a:endParaRPr lang="es-AR" sz="2000" dirty="0"/>
          </a:p>
        </p:txBody>
      </p:sp>
      <p:pic>
        <p:nvPicPr>
          <p:cNvPr id="1026" name="Picture 2" descr="Procesos industriales: ¿qué son y cuántos tipos existen?">
            <a:extLst>
              <a:ext uri="{FF2B5EF4-FFF2-40B4-BE49-F238E27FC236}">
                <a16:creationId xmlns:a16="http://schemas.microsoft.com/office/drawing/2014/main" id="{411C15BF-11BE-04C4-BC91-15F0D2B37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145" y="2235056"/>
            <a:ext cx="4966854" cy="279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924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3087AC9-59AB-18DF-0287-926EA89D7A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3082636" y="1354086"/>
            <a:ext cx="5181600" cy="39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86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04BD1-967C-3414-055B-FE4B9EDC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6511636" cy="1690688"/>
          </a:xfrm>
        </p:spPr>
        <p:txBody>
          <a:bodyPr>
            <a:normAutofit/>
          </a:bodyPr>
          <a:lstStyle/>
          <a:p>
            <a:r>
              <a:rPr lang="es-AR" sz="2000" b="1" dirty="0">
                <a:effectLst/>
                <a:latin typeface="Helvetica" pitchFamily="2" charset="0"/>
              </a:rPr>
              <a:t>a) Operaciones para el Transporte de Materiales </a:t>
            </a:r>
            <a:endParaRPr lang="es-AR" sz="48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07B91-582A-B3FD-26C6-45A00050F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1566" y="1565564"/>
            <a:ext cx="5699234" cy="4680672"/>
          </a:xfrm>
        </p:spPr>
        <p:txBody>
          <a:bodyPr>
            <a:normAutofit/>
          </a:bodyPr>
          <a:lstStyle/>
          <a:p>
            <a:r>
              <a:rPr lang="es-AR" sz="2000" dirty="0">
                <a:effectLst/>
                <a:latin typeface="Helvetica" pitchFamily="2" charset="0"/>
              </a:rPr>
              <a:t>Para el transporte de sólidos se utilizan preferentemente sistemas de correas transportadoras, camiones tolva, carros u otros vehículos, transporte hidráulico, </a:t>
            </a:r>
            <a:endParaRPr lang="es-AR" sz="2000" dirty="0">
              <a:effectLst/>
            </a:endParaRPr>
          </a:p>
          <a:p>
            <a:r>
              <a:rPr lang="es-AR" sz="2000" dirty="0">
                <a:effectLst/>
                <a:latin typeface="Helvetica" pitchFamily="2" charset="0"/>
              </a:rPr>
              <a:t>Los líquidos son transportados a través de tuberías y canales, por gravedad, o a través del uso de bombas. </a:t>
            </a:r>
            <a:endParaRPr lang="es-AR" sz="2000" dirty="0">
              <a:latin typeface="Helvetica" pitchFamily="2" charset="0"/>
            </a:endParaRPr>
          </a:p>
          <a:p>
            <a:r>
              <a:rPr lang="es-AR" sz="2000" dirty="0">
                <a:effectLst/>
                <a:latin typeface="Helvetica" pitchFamily="2" charset="0"/>
              </a:rPr>
              <a:t>Los gases son impulsados utilizando sopladores y compresores, los que permiten incrementar su </a:t>
            </a:r>
            <a:r>
              <a:rPr lang="es-AR" sz="2000" b="1" dirty="0">
                <a:effectLst/>
                <a:latin typeface="Helvetica" pitchFamily="2" charset="0"/>
              </a:rPr>
              <a:t>presión. </a:t>
            </a:r>
          </a:p>
          <a:p>
            <a:pPr marL="0" indent="0">
              <a:buNone/>
            </a:pPr>
            <a:endParaRPr lang="es-AR" sz="2000" b="1" dirty="0">
              <a:effectLst/>
            </a:endParaRPr>
          </a:p>
          <a:p>
            <a:pPr marL="0" indent="0">
              <a:buNone/>
            </a:pPr>
            <a:r>
              <a:rPr lang="es-AR" sz="2000" dirty="0">
                <a:solidFill>
                  <a:srgbClr val="C00000"/>
                </a:solidFill>
                <a:effectLst/>
                <a:latin typeface="Helvetica" pitchFamily="2" charset="0"/>
              </a:rPr>
              <a:t>¿Cuáles son los residuos derivados de estas operaciones? </a:t>
            </a:r>
            <a:endParaRPr lang="es-AR" sz="2000" dirty="0">
              <a:solidFill>
                <a:srgbClr val="C00000"/>
              </a:solidFill>
              <a:effectLst/>
            </a:endParaRPr>
          </a:p>
        </p:txBody>
      </p:sp>
      <p:pic>
        <p:nvPicPr>
          <p:cNvPr id="1026" name="Picture 2" descr="Sistemas de transporte para industria alimentaria- Ingeniería Agroindustrial">
            <a:extLst>
              <a:ext uri="{FF2B5EF4-FFF2-40B4-BE49-F238E27FC236}">
                <a16:creationId xmlns:a16="http://schemas.microsoft.com/office/drawing/2014/main" id="{7509D6AE-F5B4-7BB1-756C-AE7DA064C9F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967" y="201581"/>
            <a:ext cx="3313387" cy="220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37E07CB-28A1-2284-88F7-49F8CEE4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255" y="2503029"/>
            <a:ext cx="4382813" cy="21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ombas no obstruidas para diversas industrias| Sintech Blog">
            <a:extLst>
              <a:ext uri="{FF2B5EF4-FFF2-40B4-BE49-F238E27FC236}">
                <a16:creationId xmlns:a16="http://schemas.microsoft.com/office/drawing/2014/main" id="{DA0B418D-EFE0-1FBF-B7A0-BEF17EB0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172" y="4822436"/>
            <a:ext cx="3271510" cy="20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119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92BD3-0D96-5EE7-D661-9D1F38B1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2000" b="1" dirty="0">
                <a:effectLst/>
                <a:latin typeface="Helvetica" pitchFamily="2" charset="0"/>
              </a:rPr>
              <a:t>b) Lavado de Materiales y Equipos </a:t>
            </a:r>
            <a:endParaRPr lang="es-AR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2DFE72-A5E0-6B9F-1B54-D6A4540B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1" y="1468582"/>
            <a:ext cx="5181600" cy="1825481"/>
          </a:xfrm>
        </p:spPr>
        <p:txBody>
          <a:bodyPr>
            <a:normAutofit/>
          </a:bodyPr>
          <a:lstStyle/>
          <a:p>
            <a:r>
              <a:rPr lang="es-AR" sz="2000" dirty="0">
                <a:latin typeface="Helvetica" pitchFamily="2" charset="0"/>
              </a:rPr>
              <a:t>S</a:t>
            </a:r>
            <a:r>
              <a:rPr lang="es-AR" sz="2000" dirty="0">
                <a:effectLst/>
                <a:latin typeface="Helvetica" pitchFamily="2" charset="0"/>
              </a:rPr>
              <a:t>e requiere lavar materias primas y equipos, para mantener condiciones de higiene apropiadas. </a:t>
            </a:r>
          </a:p>
          <a:p>
            <a:pPr marL="0" indent="0">
              <a:buNone/>
            </a:pPr>
            <a:r>
              <a:rPr lang="es-AR" sz="2000" dirty="0">
                <a:solidFill>
                  <a:srgbClr val="C00000"/>
                </a:solidFill>
                <a:latin typeface="Helvetica" pitchFamily="2" charset="0"/>
              </a:rPr>
              <a:t>¿Qué aspecto ambiental genera esta actividad? </a:t>
            </a:r>
            <a:endParaRPr lang="es-AR" sz="3200" dirty="0">
              <a:solidFill>
                <a:srgbClr val="C00000"/>
              </a:solidFill>
            </a:endParaRPr>
          </a:p>
        </p:txBody>
      </p:sp>
      <p:pic>
        <p:nvPicPr>
          <p:cNvPr id="2052" name="Picture 4" descr="Procesado de frutas y verduras: de la huerta a la mesa - Ingivision">
            <a:extLst>
              <a:ext uri="{FF2B5EF4-FFF2-40B4-BE49-F238E27FC236}">
                <a16:creationId xmlns:a16="http://schemas.microsoft.com/office/drawing/2014/main" id="{02B5C452-BB97-2C7B-F93C-DD447E6789B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668" y="1384378"/>
            <a:ext cx="5181600" cy="221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a minería artesanal y sus efectos en el medio ambiente">
            <a:extLst>
              <a:ext uri="{FF2B5EF4-FFF2-40B4-BE49-F238E27FC236}">
                <a16:creationId xmlns:a16="http://schemas.microsoft.com/office/drawing/2014/main" id="{F7BEE4FA-AC34-AA91-EA85-34B3AD08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290" y="3429000"/>
            <a:ext cx="4277710" cy="280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675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CC86E-B499-BA5C-95F4-C6D6D2FE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2000" b="1" dirty="0">
                <a:effectLst/>
                <a:latin typeface="Helvetica" pitchFamily="2" charset="0"/>
              </a:rPr>
              <a:t>c) Reducción de Tamaño </a:t>
            </a:r>
            <a:endParaRPr lang="es-AR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F43CF6-5A53-21DE-D260-A938B96B8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6876" y="2147455"/>
            <a:ext cx="5181600" cy="2408314"/>
          </a:xfrm>
        </p:spPr>
        <p:txBody>
          <a:bodyPr>
            <a:normAutofit/>
          </a:bodyPr>
          <a:lstStyle/>
          <a:p>
            <a:r>
              <a:rPr lang="es-AR" sz="2000" dirty="0">
                <a:latin typeface="Helvetica" pitchFamily="2" charset="0"/>
              </a:rPr>
              <a:t>Se requiere r</a:t>
            </a:r>
            <a:r>
              <a:rPr lang="es-AR" sz="2000" dirty="0">
                <a:effectLst/>
                <a:latin typeface="Helvetica" pitchFamily="2" charset="0"/>
              </a:rPr>
              <a:t>educir el tamaño de la materia prima original, hasta dimensiones que hagan posible su procesamiento posterior. </a:t>
            </a:r>
          </a:p>
          <a:p>
            <a:r>
              <a:rPr lang="es-AR" sz="2000" dirty="0">
                <a:solidFill>
                  <a:srgbClr val="C00000"/>
                </a:solidFill>
                <a:latin typeface="Helvetica" pitchFamily="2" charset="0"/>
              </a:rPr>
              <a:t>¿Que ocurre con el uso </a:t>
            </a:r>
            <a:r>
              <a:rPr lang="es-AR" sz="2000" dirty="0">
                <a:solidFill>
                  <a:srgbClr val="C00000"/>
                </a:solidFill>
                <a:effectLst/>
                <a:latin typeface="Helvetica" pitchFamily="2" charset="0"/>
              </a:rPr>
              <a:t>energético de estas operaciones y la generación de residuos? </a:t>
            </a:r>
            <a:endParaRPr lang="es-AR" sz="3200" dirty="0">
              <a:solidFill>
                <a:srgbClr val="C00000"/>
              </a:solidFill>
              <a:effectLst/>
            </a:endParaRPr>
          </a:p>
        </p:txBody>
      </p:sp>
      <p:pic>
        <p:nvPicPr>
          <p:cNvPr id="3074" name="Picture 2" descr="HISTORIA DE LAS CHANCADORAS - HCA Minería">
            <a:extLst>
              <a:ext uri="{FF2B5EF4-FFF2-40B4-BE49-F238E27FC236}">
                <a16:creationId xmlns:a16="http://schemas.microsoft.com/office/drawing/2014/main" id="{BC500D1C-FD83-F5E7-BEFD-B22B941EB1B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285" y="1345737"/>
            <a:ext cx="3696357" cy="277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a molienda de granos creció 2,49% de enero a mayo | Edición Rural">
            <a:extLst>
              <a:ext uri="{FF2B5EF4-FFF2-40B4-BE49-F238E27FC236}">
                <a16:creationId xmlns:a16="http://schemas.microsoft.com/office/drawing/2014/main" id="{DF6490F3-ADFF-C2A9-AD19-AD2A858A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285" y="4308475"/>
            <a:ext cx="37211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677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916DC-6699-0A47-C37C-9702BC06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09" y="315321"/>
            <a:ext cx="6227618" cy="1325563"/>
          </a:xfrm>
        </p:spPr>
        <p:txBody>
          <a:bodyPr/>
          <a:lstStyle/>
          <a:p>
            <a:r>
              <a:rPr lang="es-AR" sz="1800" b="1" dirty="0">
                <a:effectLst/>
                <a:latin typeface="Helvetica" pitchFamily="2" charset="0"/>
              </a:rPr>
              <a:t>d) Procesos de Separación (</a:t>
            </a:r>
            <a:r>
              <a:rPr lang="es-AR" sz="1800" b="1" dirty="0">
                <a:latin typeface="Helvetica" pitchFamily="2" charset="0"/>
              </a:rPr>
              <a:t>Transferencia de Materia </a:t>
            </a:r>
            <a:r>
              <a:rPr lang="es-AR" sz="1800" b="1" dirty="0">
                <a:effectLst/>
                <a:latin typeface="Helvetica" pitchFamily="2" charset="0"/>
              </a:rPr>
              <a:t>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760282-0358-2733-2F47-79CF9B382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221" y="1504638"/>
            <a:ext cx="5181600" cy="47021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000" dirty="0">
                <a:effectLst/>
              </a:rPr>
              <a:t>Estos procesos de separación dependen de las características físicas y químicas de los compuestos a separar, aprovechando diferencias en tamaño, solubilidad, volatilidad, carga electrostática, densidad, etc. </a:t>
            </a:r>
            <a:endParaRPr lang="es-AR" sz="2000" dirty="0"/>
          </a:p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Destilación: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Separación de líquidos con diferentes puntos de ebullición.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refinación de petróleo).</a:t>
            </a:r>
          </a:p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Absorción: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Captura de un gas en un líquido.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eliminación de CO₂ en industrias químicas).</a:t>
            </a:r>
          </a:p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Adsorción: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Un gas o líquido es retenido en la superficie de un sólido.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purificación de aire con carbón activado).</a:t>
            </a:r>
          </a:p>
          <a:p>
            <a:pPr marL="0" indent="0">
              <a:buNone/>
            </a:pPr>
            <a:endParaRPr lang="es-AR" sz="2000" dirty="0"/>
          </a:p>
        </p:txBody>
      </p:sp>
      <p:pic>
        <p:nvPicPr>
          <p:cNvPr id="4098" name="Picture 2" descr="Destilación">
            <a:extLst>
              <a:ext uri="{FF2B5EF4-FFF2-40B4-BE49-F238E27FC236}">
                <a16:creationId xmlns:a16="http://schemas.microsoft.com/office/drawing/2014/main" id="{D43A3A11-6A90-A4DF-79DD-8E7B773581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437" y="380206"/>
            <a:ext cx="3127922" cy="330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roceso de sedimentación del agua | GC Tratamiento">
            <a:extLst>
              <a:ext uri="{FF2B5EF4-FFF2-40B4-BE49-F238E27FC236}">
                <a16:creationId xmlns:a16="http://schemas.microsoft.com/office/drawing/2014/main" id="{034F7394-22DC-B922-3FEF-BFDC8E61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931" y="3815244"/>
            <a:ext cx="5454869" cy="272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43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.A.P.C.A Central Azucarero Portuguesa">
            <a:extLst>
              <a:ext uri="{FF2B5EF4-FFF2-40B4-BE49-F238E27FC236}">
                <a16:creationId xmlns:a16="http://schemas.microsoft.com/office/drawing/2014/main" id="{946CE3B6-4D52-C926-0EEF-549BC626BF0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6" y="643803"/>
            <a:ext cx="4426528" cy="553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3A6B55-6E43-569E-FA03-E06B1276E1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Extracción líquido-líquido: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Separación de componentes con disolventes.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obtención de aceites esenciales).</a:t>
            </a:r>
          </a:p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Cristalización: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Formación de sólidos a partir de soluciones.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producción de azúcar y sal).</a:t>
            </a:r>
          </a:p>
          <a:p>
            <a:r>
              <a:rPr lang="es-AR" sz="2000" b="1" dirty="0">
                <a:latin typeface="Calibri" panose="020F0502020204030204" pitchFamily="34" charset="0"/>
                <a:cs typeface="Calibri" panose="020F0502020204030204" pitchFamily="34" charset="0"/>
              </a:rPr>
              <a:t>Secado:</a:t>
            </a:r>
            <a:r>
              <a:rPr lang="es-AR" sz="2000" dirty="0">
                <a:latin typeface="Calibri" panose="020F0502020204030204" pitchFamily="34" charset="0"/>
                <a:cs typeface="Calibri" panose="020F0502020204030204" pitchFamily="34" charset="0"/>
              </a:rPr>
              <a:t> Eliminación de humedad de un sólido mediante calor. 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AR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2000" i="1" dirty="0">
                <a:latin typeface="Calibri" panose="020F0502020204030204" pitchFamily="34" charset="0"/>
                <a:cs typeface="Calibri" panose="020F0502020204030204" pitchFamily="34" charset="0"/>
              </a:rPr>
              <a:t>: secado de granos y frutas).</a:t>
            </a:r>
            <a:endParaRPr lang="es-A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203487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FEFE5AB-3DEA-2711-CC8B-248E232D3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2200" y="1681163"/>
            <a:ext cx="5183188" cy="494478"/>
          </a:xfrm>
        </p:spPr>
        <p:txBody>
          <a:bodyPr>
            <a:normAutofit/>
          </a:bodyPr>
          <a:lstStyle/>
          <a:p>
            <a:r>
              <a:rPr lang="es-AR" sz="2000" b="1" dirty="0">
                <a:effectLst/>
                <a:latin typeface="Helvetica" pitchFamily="2" charset="0"/>
              </a:rPr>
              <a:t>f) Reacciones </a:t>
            </a:r>
            <a:r>
              <a:rPr lang="es-AR" sz="2000" b="1" dirty="0" err="1">
                <a:effectLst/>
                <a:latin typeface="Helvetica" pitchFamily="2" charset="0"/>
              </a:rPr>
              <a:t>Químicas</a:t>
            </a:r>
            <a:r>
              <a:rPr lang="es-AR" sz="2000" b="1" dirty="0">
                <a:effectLst/>
                <a:latin typeface="Helvetica" pitchFamily="2" charset="0"/>
              </a:rPr>
              <a:t> y </a:t>
            </a:r>
            <a:r>
              <a:rPr lang="es-AR" sz="2000" b="1" dirty="0" err="1">
                <a:effectLst/>
                <a:latin typeface="Helvetica" pitchFamily="2" charset="0"/>
              </a:rPr>
              <a:t>Biológicas</a:t>
            </a:r>
            <a:r>
              <a:rPr lang="es-AR" sz="2000" b="1" dirty="0">
                <a:effectLst/>
                <a:latin typeface="Helvetica" pitchFamily="2" charset="0"/>
              </a:rPr>
              <a:t> </a:t>
            </a:r>
            <a:endParaRPr lang="es-AR" sz="2000" dirty="0"/>
          </a:p>
        </p:txBody>
      </p:sp>
      <p:pic>
        <p:nvPicPr>
          <p:cNvPr id="11" name="Picture 2" descr="Inicio">
            <a:extLst>
              <a:ext uri="{FF2B5EF4-FFF2-40B4-BE49-F238E27FC236}">
                <a16:creationId xmlns:a16="http://schemas.microsoft.com/office/drawing/2014/main" id="{98155766-D846-6BB1-C95B-3E4456CFD3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213" y="4117456"/>
            <a:ext cx="5157787" cy="201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61687C4-D66C-3E2D-6A0F-D53798F9A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2309" y="2976130"/>
            <a:ext cx="5183188" cy="1292277"/>
          </a:xfrm>
        </p:spPr>
        <p:txBody>
          <a:bodyPr/>
          <a:lstStyle/>
          <a:p>
            <a:r>
              <a:rPr lang="es-AR" sz="1800" dirty="0">
                <a:effectLst/>
                <a:latin typeface="Helvetica" pitchFamily="2" charset="0"/>
              </a:rPr>
              <a:t>Estos procesos de transformación se realizan en reactores. </a:t>
            </a:r>
          </a:p>
          <a:p>
            <a:r>
              <a:rPr lang="es-AR" sz="1800" dirty="0">
                <a:effectLst/>
                <a:latin typeface="Helvetica" pitchFamily="2" charset="0"/>
              </a:rPr>
              <a:t>Existen diferentes configuraciones y diseños. </a:t>
            </a:r>
            <a:endParaRPr lang="es-AR" dirty="0"/>
          </a:p>
          <a:p>
            <a:endParaRPr lang="es-AR" dirty="0"/>
          </a:p>
        </p:txBody>
      </p:sp>
      <p:pic>
        <p:nvPicPr>
          <p:cNvPr id="12" name="Picture 2" descr="Fermentación Láctica y Alcohólica, ¿Qué Son? | COPISA">
            <a:extLst>
              <a:ext uri="{FF2B5EF4-FFF2-40B4-BE49-F238E27FC236}">
                <a16:creationId xmlns:a16="http://schemas.microsoft.com/office/drawing/2014/main" id="{FE37D332-6A61-D49B-8B80-92D83133A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23" y="1393536"/>
            <a:ext cx="4310496" cy="246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163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5020B34-CD10-5039-3CB1-2476413C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2400" b="1" dirty="0"/>
              <a:t>e</a:t>
            </a:r>
            <a:r>
              <a:rPr lang="es-AR" sz="2400" b="1" dirty="0">
                <a:effectLst/>
              </a:rPr>
              <a:t>) Procesos Térmicos </a:t>
            </a:r>
            <a:endParaRPr lang="es-AR" sz="2400" b="1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09A0A21-1F7A-8B85-9E29-0F5153819E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2000" dirty="0">
                <a:effectLst/>
                <a:latin typeface="Helvetica" pitchFamily="2" charset="0"/>
              </a:rPr>
              <a:t>Consiste en transferir calor de un fluido a otro, utilizando un intercambiador de calor. El objetivo de dicha transferencia de calor es: </a:t>
            </a:r>
          </a:p>
          <a:p>
            <a:r>
              <a:rPr lang="es-AR" sz="2000" dirty="0">
                <a:latin typeface="Helvetica" pitchFamily="2" charset="0"/>
              </a:rPr>
              <a:t>A</a:t>
            </a:r>
            <a:r>
              <a:rPr lang="es-AR" sz="2000" dirty="0">
                <a:effectLst/>
                <a:latin typeface="Helvetica" pitchFamily="2" charset="0"/>
              </a:rPr>
              <a:t>umentar la temperatura de un material</a:t>
            </a:r>
          </a:p>
          <a:p>
            <a:r>
              <a:rPr lang="es-AR" sz="2000" dirty="0">
                <a:latin typeface="Helvetica" pitchFamily="2" charset="0"/>
              </a:rPr>
              <a:t>S</a:t>
            </a:r>
            <a:r>
              <a:rPr lang="es-AR" sz="2000" dirty="0">
                <a:effectLst/>
                <a:latin typeface="Helvetica" pitchFamily="2" charset="0"/>
              </a:rPr>
              <a:t>ecar un sólido</a:t>
            </a:r>
            <a:endParaRPr lang="es-AR" sz="2000" dirty="0">
              <a:latin typeface="Helvetica" pitchFamily="2" charset="0"/>
            </a:endParaRPr>
          </a:p>
          <a:p>
            <a:r>
              <a:rPr lang="es-AR" sz="2000" dirty="0">
                <a:effectLst/>
                <a:latin typeface="Helvetica" pitchFamily="2" charset="0"/>
              </a:rPr>
              <a:t>Evaporar un líquido</a:t>
            </a:r>
          </a:p>
          <a:p>
            <a:r>
              <a:rPr lang="es-AR" sz="2000" dirty="0">
                <a:latin typeface="Helvetica" pitchFamily="2" charset="0"/>
              </a:rPr>
              <a:t>E</a:t>
            </a:r>
            <a:r>
              <a:rPr lang="es-AR" sz="2000" dirty="0">
                <a:effectLst/>
                <a:latin typeface="Helvetica" pitchFamily="2" charset="0"/>
              </a:rPr>
              <a:t>nfriar un fluido</a:t>
            </a:r>
          </a:p>
          <a:p>
            <a:r>
              <a:rPr lang="es-AR" sz="2000" dirty="0">
                <a:latin typeface="Helvetica" pitchFamily="2" charset="0"/>
              </a:rPr>
              <a:t>C</a:t>
            </a:r>
            <a:r>
              <a:rPr lang="es-AR" sz="2000" dirty="0">
                <a:effectLst/>
                <a:latin typeface="Helvetica" pitchFamily="2" charset="0"/>
              </a:rPr>
              <a:t>ondensar vapor</a:t>
            </a:r>
          </a:p>
          <a:p>
            <a:r>
              <a:rPr lang="es-AR" sz="2000" dirty="0">
                <a:latin typeface="Helvetica" pitchFamily="2" charset="0"/>
              </a:rPr>
              <a:t>C</a:t>
            </a:r>
            <a:r>
              <a:rPr lang="es-AR" sz="2000" dirty="0">
                <a:effectLst/>
                <a:latin typeface="Helvetica" pitchFamily="2" charset="0"/>
              </a:rPr>
              <a:t>ongelar un líquido</a:t>
            </a:r>
            <a:endParaRPr lang="es-AR" sz="2000" dirty="0"/>
          </a:p>
          <a:p>
            <a:endParaRPr lang="es-AR" sz="2000" dirty="0"/>
          </a:p>
        </p:txBody>
      </p:sp>
      <p:pic>
        <p:nvPicPr>
          <p:cNvPr id="4098" name="Picture 2" descr="Tratamientos térmicos industriales para la fabricación de herramientas -  Tratamientos Térmicos Carreras">
            <a:extLst>
              <a:ext uri="{FF2B5EF4-FFF2-40B4-BE49-F238E27FC236}">
                <a16:creationId xmlns:a16="http://schemas.microsoft.com/office/drawing/2014/main" id="{333896E2-B749-EC50-5AF1-13640B37C46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274094"/>
            <a:ext cx="51816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731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2394</TotalTime>
  <Words>931</Words>
  <Application>Microsoft Macintosh PowerPoint</Application>
  <PresentationFormat>Panorámica</PresentationFormat>
  <Paragraphs>76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Bernard MT Condensed</vt:lpstr>
      <vt:lpstr>Calibri</vt:lpstr>
      <vt:lpstr>Calibri Light</vt:lpstr>
      <vt:lpstr>Helvetica</vt:lpstr>
      <vt:lpstr>SymbolMT-Identity-H</vt:lpstr>
      <vt:lpstr>Tema de Office</vt:lpstr>
      <vt:lpstr>1_Tema de Office</vt:lpstr>
      <vt:lpstr>TECNOLOGIAS LIMPIAS EN LOS PROCESOS INDUSTRIALES</vt:lpstr>
      <vt:lpstr>LA INDUSTRIA Y SUS REQUERIMIENTOS MATERIALES Y ENERGÉTICOS</vt:lpstr>
      <vt:lpstr>Materias Primas</vt:lpstr>
      <vt:lpstr>Presentación de PowerPoint</vt:lpstr>
      <vt:lpstr>Requerimientos Energéticos </vt:lpstr>
      <vt:lpstr>Presentación de PowerPoint</vt:lpstr>
      <vt:lpstr>Presentación de PowerPoint</vt:lpstr>
      <vt:lpstr>Presentación de PowerPoint</vt:lpstr>
      <vt:lpstr>FUENTES Y TIPOS DE RESIDUOS </vt:lpstr>
      <vt:lpstr>Presentación de PowerPoint</vt:lpstr>
      <vt:lpstr>Presentación de PowerPoint</vt:lpstr>
      <vt:lpstr>Residuos Gaseosos </vt:lpstr>
      <vt:lpstr>Presentación de PowerPoint</vt:lpstr>
      <vt:lpstr>TIPOS DE PROCESOS Y TECNOLOGIAS</vt:lpstr>
      <vt:lpstr>Operaciones y Procesos Unitarios</vt:lpstr>
      <vt:lpstr>Presentación de PowerPoint</vt:lpstr>
      <vt:lpstr>a) Operaciones para el Transporte de Materiales </vt:lpstr>
      <vt:lpstr>b) Lavado de Materiales y Equipos </vt:lpstr>
      <vt:lpstr>c) Reducción de Tamaño </vt:lpstr>
      <vt:lpstr>d) Procesos de Separación (Transferencia de Materia )</vt:lpstr>
      <vt:lpstr>Presentación de PowerPoint</vt:lpstr>
      <vt:lpstr>Presentación de PowerPoint</vt:lpstr>
      <vt:lpstr>e) Procesos Térmicos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TECNOLOGIAS LIMPIAS EN LOS PROCESOS INDUSTRIALES</dc:title>
  <dc:creator>Microsoft Office User</dc:creator>
  <cp:lastModifiedBy>Guisell Aedo</cp:lastModifiedBy>
  <cp:revision>17</cp:revision>
  <dcterms:created xsi:type="dcterms:W3CDTF">2024-08-15T23:26:11Z</dcterms:created>
  <dcterms:modified xsi:type="dcterms:W3CDTF">2026-02-16T03:49:26Z</dcterms:modified>
</cp:coreProperties>
</file>